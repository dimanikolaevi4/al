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08450" y="108198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4320" y="1513731"/>
            <a:ext cx="8595211" cy="62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6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ИИ-тьютор для СПО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267200" y="2346722"/>
            <a:ext cx="609600" cy="3810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04852" y="2638723"/>
            <a:ext cx="6934148" cy="614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Интеллектуальная система на базе LLM для среднего профессионального образования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50805" y="3309045"/>
            <a:ext cx="4242242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Aft>
                <a:spcPts val="2800"/>
              </a:spcAft>
              <a:buNone/>
            </a:pPr>
            <a:r>
              <a:rPr lang="en-US" sz="1300" dirty="0">
                <a:solidFill>
                  <a:srgbClr val="FFFFFF">
                    <a:alpha val="5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ГБПОУ РО «Сальский индустриальный техникум»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13695" y="4005709"/>
            <a:ext cx="457200" cy="126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74045" y="3912096"/>
            <a:ext cx="3984561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Бардаков Д.Н. · Мышанская Н.Г. ·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73105" y="4005709"/>
            <a:ext cx="457200" cy="126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33439"/>
            <a:ext cx="2393942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800"/>
              </a:spcAft>
              <a:buNone/>
            </a:pPr>
            <a:r>
              <a:rPr lang="en-US" sz="1300" spc="200" kern="0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СОДЕРЖАНИЕ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301" y="2299990"/>
            <a:ext cx="2644920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Структура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06301" y="2878931"/>
            <a:ext cx="2278106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FFFFFF">
                    <a:alpha val="5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ключевых разделов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52800" y="1223367"/>
            <a:ext cx="5181600" cy="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52800" y="731639"/>
            <a:ext cx="841248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962400" y="760214"/>
            <a:ext cx="3219766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Проблематика и решение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52800" y="1897559"/>
            <a:ext cx="5181600" cy="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2800" y="1405830"/>
            <a:ext cx="841248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62400" y="1434405"/>
            <a:ext cx="3460712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Архитектура и функционал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52800" y="2571750"/>
            <a:ext cx="5181600" cy="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2800" y="2080022"/>
            <a:ext cx="841248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62400" y="2108597"/>
            <a:ext cx="2258261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Модель и датасет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352800" y="3245941"/>
            <a:ext cx="5181600" cy="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2800" y="2754213"/>
            <a:ext cx="841248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962400" y="2782788"/>
            <a:ext cx="2807065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Безопасность данных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352800" y="3920133"/>
            <a:ext cx="5181600" cy="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2800" y="3428405"/>
            <a:ext cx="841248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962400" y="3456980"/>
            <a:ext cx="3984397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Текущий статус и дорожная карта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352800" y="4102596"/>
            <a:ext cx="841248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962400" y="4131171"/>
            <a:ext cx="1202457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Команда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06301"/>
            <a:ext cx="3135788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Проблематика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600" y="879277"/>
            <a:ext cx="507950" cy="3810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120527"/>
            <a:ext cx="3682901" cy="1888331"/>
          </a:xfrm>
          <a:prstGeom prst="roundRect">
            <a:avLst>
              <a:gd name="adj" fmla="val 6725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9618" y="1383953"/>
            <a:ext cx="4102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94125" y="2247454"/>
            <a:ext cx="3313852" cy="537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аудиторного времени уходит на теорию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46402" y="1120527"/>
            <a:ext cx="3682901" cy="1639342"/>
          </a:xfrm>
          <a:prstGeom prst="roundRect">
            <a:avLst>
              <a:gd name="adj" fmla="val 7747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36420" y="1383953"/>
            <a:ext cx="4102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EDCD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652025" y="2247454"/>
            <a:ext cx="3471654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остаётся на практические навыки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" y="3212009"/>
            <a:ext cx="7924800" cy="907852"/>
          </a:xfrm>
          <a:prstGeom prst="roundRect">
            <a:avLst>
              <a:gd name="adj" fmla="val 11191"/>
            </a:avLst>
          </a:prstGeom>
          <a:solidFill>
            <a:srgbClr val="44D1E4">
              <a:alpha val="8000"/>
            </a:srgbClr>
          </a:solidFill>
          <a:ln w="9525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47725" y="3399234"/>
            <a:ext cx="782097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Преподаватели тратят время на рутину — конспекты, тесты. Практика, ключ к employability, страдает.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4272260"/>
            <a:ext cx="50750" cy="355550"/>
          </a:xfrm>
          <a:prstGeom prst="roundRect">
            <a:avLst>
              <a:gd name="adj" fmla="val 50049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7301" y="4326136"/>
            <a:ext cx="7493704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Цель: Перенести теорию на самостоятельную работу с ИИ-поддержкой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623221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Решение: ИИ-тьютор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515517"/>
            <a:ext cx="2438400" cy="1996976"/>
          </a:xfrm>
          <a:prstGeom prst="roundRect">
            <a:avLst>
              <a:gd name="adj" fmla="val 6360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275" y="1778943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44D1E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87177" y="1874193"/>
            <a:ext cx="17560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275" y="2388543"/>
            <a:ext cx="2616964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Конспекты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275" y="2754064"/>
            <a:ext cx="2113702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Автоматическая генерация из лекций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51150" y="1515517"/>
            <a:ext cx="2438400" cy="1996976"/>
          </a:xfrm>
          <a:prstGeom prst="roundRect">
            <a:avLst>
              <a:gd name="adj" fmla="val 6360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63826" y="1778943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44D1E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28727" y="1874193"/>
            <a:ext cx="17560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63826" y="2388543"/>
            <a:ext cx="2616964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Тесты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63826" y="2754064"/>
            <a:ext cx="2113702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Самопроверка: easy / medium / hard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92701" y="1515517"/>
            <a:ext cx="2438400" cy="1996976"/>
          </a:xfrm>
          <a:prstGeom prst="roundRect">
            <a:avLst>
              <a:gd name="adj" fmla="val 6360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05376" y="1778943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44D1E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70278" y="1874193"/>
            <a:ext cx="17560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05376" y="2388543"/>
            <a:ext cx="2616964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Диалог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05376" y="2754064"/>
            <a:ext cx="2113702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Чат для уточняющих вопросов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9600" y="3715643"/>
            <a:ext cx="7924800" cy="623441"/>
          </a:xfrm>
          <a:prstGeom prst="roundRect">
            <a:avLst>
              <a:gd name="adj" fmla="val 16297"/>
            </a:avLst>
          </a:prstGeom>
          <a:solidFill>
            <a:srgbClr val="EDCD82">
              <a:alpha val="10000"/>
            </a:srgbClr>
          </a:solidFill>
          <a:ln w="9525">
            <a:solidFill>
              <a:srgbClr val="EDCD8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5298" y="3902869"/>
            <a:ext cx="8193405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CD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Интеграция через блок «ИИ Тьютор» в Moodle LMS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5550"/>
            <a:ext cx="3648654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это работает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600" y="828526"/>
            <a:ext cx="507950" cy="3810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127522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3191" y="1225897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93602" y="1069777"/>
            <a:ext cx="7340798" cy="521940"/>
          </a:xfrm>
          <a:prstGeom prst="roundRect">
            <a:avLst>
              <a:gd name="adj" fmla="val 19466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06277" y="1206252"/>
            <a:ext cx="7606992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Преподаватель загружает лекцию в Moodle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1776413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3191" y="1874788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93602" y="1718667"/>
            <a:ext cx="7340798" cy="521940"/>
          </a:xfrm>
          <a:prstGeom prst="roundRect">
            <a:avLst>
              <a:gd name="adj" fmla="val 19466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06277" y="1855143"/>
            <a:ext cx="7606992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Moodle отправляет текст в API (FastAPI)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2425303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3191" y="2523679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93602" y="2367558"/>
            <a:ext cx="7340798" cy="521940"/>
          </a:xfrm>
          <a:prstGeom prst="roundRect">
            <a:avLst>
              <a:gd name="adj" fmla="val 19466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406277" y="2504033"/>
            <a:ext cx="7606992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Задача ставится в очередь (Celery + Redis)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600" y="3074194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EDC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3191" y="3172569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93602" y="3016448"/>
            <a:ext cx="7340798" cy="521940"/>
          </a:xfrm>
          <a:prstGeom prst="roundRect">
            <a:avLst>
              <a:gd name="adj" fmla="val 19466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06277" y="3152924"/>
            <a:ext cx="7606992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ИИ-тьютор генерирует результат (LLM + QLoRA)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9600" y="3723084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63191" y="3821460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93602" y="3665339"/>
            <a:ext cx="7340798" cy="521940"/>
          </a:xfrm>
          <a:prstGeom prst="roundRect">
            <a:avLst>
              <a:gd name="adj" fmla="val 19466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406277" y="3801814"/>
            <a:ext cx="7606992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Ответ возвращается в Moodle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3360" y="4314230"/>
            <a:ext cx="863600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4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Шаг 4 — ядро системы: дообученная LLM с QLoRA-адаптацией под формат СПО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09655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Модель и датасет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495574"/>
            <a:ext cx="507950" cy="3810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686074"/>
            <a:ext cx="4338259" cy="32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2135535"/>
            <a:ext cx="3555950" cy="88833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 Small 24B (Apache 2.0)</a:t>
            </a:r>
            <a:endParaRPr lang="en-US" sz="1400" dirty="0"/>
          </a:p>
          <a:p>
            <a:pPr algn="l" marL="114300" indent="-1143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QLoRA 4-bit, r=16, 7 модулей</a:t>
            </a:r>
            <a:endParaRPr lang="en-US" sz="1400" dirty="0"/>
          </a:p>
          <a:p>
            <a:pPr algn="l" marL="114300" indent="-1143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128K контекст, GPU-агностично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19451" y="1218605"/>
            <a:ext cx="12650" cy="2031950"/>
          </a:xfrm>
          <a:prstGeom prst="rect">
            <a:avLst/>
          </a:prstGeom>
          <a:solidFill>
            <a:srgbClr val="2A3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86002" y="1495574"/>
            <a:ext cx="507950" cy="38100"/>
          </a:xfrm>
          <a:prstGeom prst="rect">
            <a:avLst/>
          </a:prstGeom>
          <a:solidFill>
            <a:srgbClr val="EDC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86002" y="1686074"/>
            <a:ext cx="4338259" cy="32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Датасет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86002" y="2135535"/>
            <a:ext cx="3555950" cy="88833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771 запись (train / val / test)</a:t>
            </a:r>
            <a:endParaRPr lang="en-US" sz="1400" dirty="0"/>
          </a:p>
          <a:p>
            <a:pPr algn="l" marL="114300" indent="-1143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 лекций (40 ПА + 27 ИС)</a:t>
            </a:r>
            <a:endParaRPr lang="en-US" sz="1400" dirty="0"/>
          </a:p>
          <a:p>
            <a:pPr algn="l" marL="114300" indent="-1143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summary, quiz, chat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" y="3758059"/>
            <a:ext cx="2438400" cy="928241"/>
          </a:xfrm>
          <a:prstGeom prst="roundRect">
            <a:avLst>
              <a:gd name="adj" fmla="val 10945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0318" y="3919984"/>
            <a:ext cx="2616964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80709" y="4326285"/>
            <a:ext cx="2496181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параметров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51150" y="3758059"/>
            <a:ext cx="2438400" cy="928241"/>
          </a:xfrm>
          <a:prstGeom prst="roundRect">
            <a:avLst>
              <a:gd name="adj" fmla="val 10945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81346" y="3919984"/>
            <a:ext cx="277800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771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22260" y="4326285"/>
            <a:ext cx="2496181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записей JSONL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2701" y="3758059"/>
            <a:ext cx="2438400" cy="928241"/>
          </a:xfrm>
          <a:prstGeom prst="roundRect">
            <a:avLst>
              <a:gd name="adj" fmla="val 10945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22897" y="3919984"/>
            <a:ext cx="277800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DCD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863810" y="4326285"/>
            <a:ext cx="2496181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дисциплины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80776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Технологический стек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203424"/>
            <a:ext cx="914400" cy="720030"/>
          </a:xfrm>
          <a:prstGeom prst="roundRect">
            <a:avLst>
              <a:gd name="adj" fmla="val 14111"/>
            </a:avLst>
          </a:prstGeom>
          <a:solidFill>
            <a:srgbClr val="44D1E4">
              <a:alpha val="12000"/>
            </a:srgbClr>
          </a:solidFill>
          <a:ln w="9525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3317" y="1365349"/>
            <a:ext cx="726966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/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01701" y="1203424"/>
            <a:ext cx="6832699" cy="720030"/>
          </a:xfrm>
          <a:prstGeom prst="roundRect">
            <a:avLst>
              <a:gd name="adj" fmla="val 14111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14376" y="1447800"/>
            <a:ext cx="3542374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PyTorch, Transformers, PEFT, QLoRA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2050405"/>
            <a:ext cx="914400" cy="554980"/>
          </a:xfrm>
          <a:prstGeom prst="roundRect">
            <a:avLst>
              <a:gd name="adj" fmla="val 18307"/>
            </a:avLst>
          </a:prstGeom>
          <a:solidFill>
            <a:srgbClr val="44D1E4">
              <a:alpha val="12000"/>
            </a:srgbClr>
          </a:solidFill>
          <a:ln w="9525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6774" y="2212330"/>
            <a:ext cx="900053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1701" y="2050405"/>
            <a:ext cx="6832699" cy="554980"/>
          </a:xfrm>
          <a:prstGeom prst="roundRect">
            <a:avLst>
              <a:gd name="adj" fmla="val 18307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914376" y="2212330"/>
            <a:ext cx="3026060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FastAPI, Celery, Redis, Pydantic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600" y="2732336"/>
            <a:ext cx="914400" cy="554980"/>
          </a:xfrm>
          <a:prstGeom prst="roundRect">
            <a:avLst>
              <a:gd name="adj" fmla="val 18307"/>
            </a:avLst>
          </a:prstGeom>
          <a:solidFill>
            <a:srgbClr val="EDCD82">
              <a:alpha val="12000"/>
            </a:srgbClr>
          </a:solidFill>
          <a:ln w="9525">
            <a:solidFill>
              <a:srgbClr val="EDCD8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6774" y="2894261"/>
            <a:ext cx="900053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EDCD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01701" y="2732336"/>
            <a:ext cx="6832699" cy="554980"/>
          </a:xfrm>
          <a:prstGeom prst="roundRect">
            <a:avLst>
              <a:gd name="adj" fmla="val 18307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14376" y="2894261"/>
            <a:ext cx="3147060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Moodle Local Plugin, Block, AJAX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9600" y="3414266"/>
            <a:ext cx="914400" cy="554980"/>
          </a:xfrm>
          <a:prstGeom prst="roundRect">
            <a:avLst>
              <a:gd name="adj" fmla="val 18307"/>
            </a:avLst>
          </a:prstGeom>
          <a:solidFill>
            <a:srgbClr val="44D1E4">
              <a:alpha val="12000"/>
            </a:srgbClr>
          </a:solidFill>
          <a:ln w="9525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6774" y="3576191"/>
            <a:ext cx="900053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01701" y="3414266"/>
            <a:ext cx="6832699" cy="554980"/>
          </a:xfrm>
          <a:prstGeom prst="roundRect">
            <a:avLst>
              <a:gd name="adj" fmla="val 18307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914376" y="3576191"/>
            <a:ext cx="2773873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Docker, Prometheus, Grafana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9600" y="4096196"/>
            <a:ext cx="914400" cy="554980"/>
          </a:xfrm>
          <a:prstGeom prst="roundRect">
            <a:avLst>
              <a:gd name="adj" fmla="val 18307"/>
            </a:avLst>
          </a:prstGeom>
          <a:solidFill>
            <a:srgbClr val="EDCD82">
              <a:alpha val="12000"/>
            </a:srgbClr>
          </a:solidFill>
          <a:ln w="9525">
            <a:solidFill>
              <a:srgbClr val="EDCD8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6774" y="4258121"/>
            <a:ext cx="900053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EDCD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01701" y="4096196"/>
            <a:ext cx="6832699" cy="554980"/>
          </a:xfrm>
          <a:prstGeom prst="roundRect">
            <a:avLst>
              <a:gd name="adj" fmla="val 18307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914376" y="4258121"/>
            <a:ext cx="2924904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On-premise, Safetensors, UFW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91000" y="524024"/>
            <a:ext cx="762000" cy="762000"/>
          </a:xfrm>
          <a:prstGeom prst="roundRect">
            <a:avLst>
              <a:gd name="adj" fmla="val 120000"/>
            </a:avLst>
          </a:prstGeom>
          <a:noFill/>
          <a:ln w="38100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94150" y="72717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41759" y="1539925"/>
            <a:ext cx="3260333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1200"/>
              </a:spcAft>
              <a:buNone/>
            </a:pPr>
            <a:r>
              <a:rPr lang="en-US" sz="1400" spc="200" kern="0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БЕЗОПАСНОСТЬ ДАННЫХ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870174"/>
            <a:ext cx="8595211" cy="95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00"/>
              </a:lnSpc>
              <a:spcAft>
                <a:spcPts val="2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 не покидают периметр техникума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267200" y="3063776"/>
            <a:ext cx="609600" cy="3810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15901" y="3431977"/>
            <a:ext cx="50750" cy="457200"/>
          </a:xfrm>
          <a:prstGeom prst="roundRect">
            <a:avLst>
              <a:gd name="adj" fmla="val 50049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93602" y="3406676"/>
            <a:ext cx="369951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On-premise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93602" y="3705076"/>
            <a:ext cx="3348700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Сервер в техникуме, изоляция от интернета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87639" y="3431977"/>
            <a:ext cx="50750" cy="457200"/>
          </a:xfrm>
          <a:prstGeom prst="roundRect">
            <a:avLst>
              <a:gd name="adj" fmla="val 50049"/>
            </a:avLst>
          </a:prstGeom>
          <a:solidFill>
            <a:srgbClr val="EDC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65340" y="3406676"/>
            <a:ext cx="398056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ФЗ-152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65340" y="3705076"/>
            <a:ext cx="3425897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Персональные данные студентов защищены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60573" y="4471839"/>
            <a:ext cx="3422705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Bef>
                <a:spcPts val="2400"/>
              </a:spcBef>
              <a:buNone/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 отличие от ChatGPT и облачных решений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31750"/>
            <a:ext cx="3393310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Текущий статус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10771" y="355550"/>
            <a:ext cx="1138476" cy="50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00168" y="574625"/>
            <a:ext cx="153044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общий прогресс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025426"/>
            <a:ext cx="2438400" cy="1548854"/>
          </a:xfrm>
          <a:prstGeom prst="roundRect">
            <a:avLst>
              <a:gd name="adj" fmla="val 8200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666" y="1288852"/>
            <a:ext cx="2818269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80709" y="1847552"/>
            <a:ext cx="2496181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эндпоинтов 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1101" y="2129284"/>
            <a:ext cx="237539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 + async + system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51150" y="1025426"/>
            <a:ext cx="2438400" cy="1548854"/>
          </a:xfrm>
          <a:prstGeom prst="roundRect">
            <a:avLst>
              <a:gd name="adj" fmla="val 8200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61216" y="1288852"/>
            <a:ext cx="2818269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82651" y="1847552"/>
            <a:ext cx="2375398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лекций оцифровано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82651" y="2129284"/>
            <a:ext cx="237539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771 JSONL записей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92701" y="1025426"/>
            <a:ext cx="2438400" cy="1548854"/>
          </a:xfrm>
          <a:prstGeom prst="roundRect">
            <a:avLst>
              <a:gd name="adj" fmla="val 8200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02766" y="1288852"/>
            <a:ext cx="2818269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DCD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65/117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924202" y="1847552"/>
            <a:ext cx="2375398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задач выполнено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24202" y="2129284"/>
            <a:ext cx="237539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чеклист проекта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9600" y="2777430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FFFFFF">
                    <a:alpha val="5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3056781"/>
            <a:ext cx="739080" cy="420142"/>
          </a:xfrm>
          <a:prstGeom prst="roundRect">
            <a:avLst>
              <a:gd name="adj" fmla="val 18137"/>
            </a:avLst>
          </a:prstGeom>
          <a:solidFill>
            <a:srgbClr val="44D1E4">
              <a:alpha val="15000"/>
            </a:srgbClr>
          </a:solidFill>
          <a:ln w="9525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1525" y="3167807"/>
            <a:ext cx="581323" cy="21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v0.3.0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50181" y="3254127"/>
            <a:ext cx="203150" cy="25301"/>
          </a:xfrm>
          <a:prstGeom prst="rect">
            <a:avLst/>
          </a:prstGeom>
          <a:solidFill>
            <a:srgbClr val="2A3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754832" y="3056781"/>
            <a:ext cx="739080" cy="420142"/>
          </a:xfrm>
          <a:prstGeom prst="roundRect">
            <a:avLst>
              <a:gd name="adj" fmla="val 18137"/>
            </a:avLst>
          </a:prstGeom>
          <a:solidFill>
            <a:srgbClr val="EDCD82">
              <a:alpha val="10000"/>
            </a:srgbClr>
          </a:solidFill>
          <a:ln w="9525">
            <a:solidFill>
              <a:srgbClr val="EDCD8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916757" y="3167807"/>
            <a:ext cx="581323" cy="21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DCD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v0.4.0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95414" y="3254127"/>
            <a:ext cx="203150" cy="25301"/>
          </a:xfrm>
          <a:prstGeom prst="rect">
            <a:avLst/>
          </a:prstGeom>
          <a:solidFill>
            <a:srgbClr val="2A3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900065" y="3056781"/>
            <a:ext cx="739080" cy="420142"/>
          </a:xfrm>
          <a:prstGeom prst="roundRect">
            <a:avLst>
              <a:gd name="adj" fmla="val 18137"/>
            </a:avLst>
          </a:prstGeom>
          <a:solidFill>
            <a:srgbClr val="EDCD82">
              <a:alpha val="10000"/>
            </a:srgbClr>
          </a:solidFill>
          <a:ln w="9525">
            <a:solidFill>
              <a:srgbClr val="EDCD8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061990" y="3167807"/>
            <a:ext cx="581323" cy="21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DCD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v0.5.0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40646" y="3254127"/>
            <a:ext cx="203150" cy="25301"/>
          </a:xfrm>
          <a:prstGeom prst="rect">
            <a:avLst/>
          </a:prstGeom>
          <a:solidFill>
            <a:srgbClr val="2A3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045297" y="3056781"/>
            <a:ext cx="739080" cy="420142"/>
          </a:xfrm>
          <a:prstGeom prst="roundRect">
            <a:avLst>
              <a:gd name="adj" fmla="val 1813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207222" y="3167807"/>
            <a:ext cx="581323" cy="21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v1.0.0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9600" y="3553123"/>
            <a:ext cx="9244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Инфра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26853" y="3553123"/>
            <a:ext cx="9244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CD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Обучение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44105" y="3553123"/>
            <a:ext cx="9244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CD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Пилот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61358" y="3553123"/>
            <a:ext cx="9613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3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Продакшен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2918429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Дорожная карта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35280" y="1531739"/>
            <a:ext cx="1188720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701701" y="1525339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57102" y="1362224"/>
            <a:ext cx="6477298" cy="504081"/>
          </a:xfrm>
          <a:prstGeom prst="roundRect">
            <a:avLst>
              <a:gd name="adj" fmla="val 20156"/>
            </a:avLst>
          </a:prstGeom>
          <a:solidFill>
            <a:srgbClr val="44D1E4">
              <a:alpha val="10000"/>
            </a:srgbClr>
          </a:solidFill>
          <a:ln w="9525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69778" y="1498699"/>
            <a:ext cx="1891924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v0.2.0 — Прототип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90570" y="1537990"/>
            <a:ext cx="6036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Готово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5280" y="2188220"/>
            <a:ext cx="1188720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01701" y="2181820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57102" y="2018705"/>
            <a:ext cx="6477298" cy="504081"/>
          </a:xfrm>
          <a:prstGeom prst="roundRect">
            <a:avLst>
              <a:gd name="adj" fmla="val 20156"/>
            </a:avLst>
          </a:prstGeom>
          <a:solidFill>
            <a:srgbClr val="44D1E4">
              <a:alpha val="10000"/>
            </a:srgbClr>
          </a:solidFill>
          <a:ln w="9525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69778" y="2155180"/>
            <a:ext cx="3438585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v0.3.0 — Инфраструктура + датасет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90570" y="2194471"/>
            <a:ext cx="6036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Готово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280" y="2844701"/>
            <a:ext cx="1188720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DCD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01701" y="2838301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EDC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057102" y="2675186"/>
            <a:ext cx="6477298" cy="504081"/>
          </a:xfrm>
          <a:prstGeom prst="roundRect">
            <a:avLst>
              <a:gd name="adj" fmla="val 20156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69778" y="2811661"/>
            <a:ext cx="6657142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v0.4.0 — Дообучение модели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5280" y="3501182"/>
            <a:ext cx="1188720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DCD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2026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01701" y="3494782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57102" y="3331666"/>
            <a:ext cx="6477298" cy="504081"/>
          </a:xfrm>
          <a:prstGeom prst="roundRect">
            <a:avLst>
              <a:gd name="adj" fmla="val 20156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269778" y="3468142"/>
            <a:ext cx="6657142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v0.5.0 — Пилот в группе 15.02.14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5280" y="4157663"/>
            <a:ext cx="1188720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2027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01701" y="415126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057102" y="3988147"/>
            <a:ext cx="6477298" cy="504081"/>
          </a:xfrm>
          <a:prstGeom prst="roundRect">
            <a:avLst>
              <a:gd name="adj" fmla="val 20156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269778" y="4124623"/>
            <a:ext cx="6657142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v1.0.0 — Продакшен-релиз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1756618"/>
            <a:ext cx="406301" cy="3810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1997869"/>
            <a:ext cx="2794248" cy="85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Проектная команда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06301" y="2891730"/>
            <a:ext cx="2347168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5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ГБПОУ РО «Сальский индустриальный техникум»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55950" y="1191518"/>
            <a:ext cx="5080099" cy="1278582"/>
          </a:xfrm>
          <a:prstGeom prst="roundRect">
            <a:avLst>
              <a:gd name="adj" fmla="val 9933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9376" y="1429643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44D1E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32796" y="1607344"/>
            <a:ext cx="237396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32127" y="1429643"/>
            <a:ext cx="4338977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Бардаков Д.Н.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32127" y="1744414"/>
            <a:ext cx="4114547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Руководитель проекта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2127" y="2018705"/>
            <a:ext cx="4114547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Архитектура, разработка ПО, ML, инфраструктура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55950" y="2673251"/>
            <a:ext cx="5080099" cy="1278582"/>
          </a:xfrm>
          <a:prstGeom prst="roundRect">
            <a:avLst>
              <a:gd name="adj" fmla="val 9933"/>
            </a:avLst>
          </a:prstGeom>
          <a:solidFill>
            <a:srgbClr val="243550"/>
          </a:solidFill>
          <a:ln w="9525">
            <a:solidFill>
              <a:srgbClr val="2A3F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19376" y="2911376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EDCD8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18359" y="3089077"/>
            <a:ext cx="275124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EDCD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32127" y="2911376"/>
            <a:ext cx="4338977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Мышанская Н.Г.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32127" y="3226147"/>
            <a:ext cx="4511873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DCD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Методист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32127" y="3500438"/>
            <a:ext cx="4114547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Контент, датасет, методические рекомендации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08450" y="122946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4320" y="1661220"/>
            <a:ext cx="8595360" cy="55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8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Спасибо за внимание!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267200" y="2433191"/>
            <a:ext cx="609600" cy="3810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685068" y="2725192"/>
            <a:ext cx="3773865" cy="32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0"/>
              </a:lnSpc>
              <a:spcAft>
                <a:spcPts val="2800"/>
              </a:spcAft>
              <a:buNone/>
            </a:pPr>
            <a:r>
              <a:rPr lang="en-US" sz="17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Готовы ответить на ваши вопросы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995322" y="3383012"/>
            <a:ext cx="3153207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4D1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Бардаков Д.Н. · Мышанская Н.Г.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68232" y="3733502"/>
            <a:ext cx="4807535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>
                    <a:alpha val="4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ГБПОУ РО «Сальский индустриальный техникум»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2026-05-06T10:08:47Z</dcterms:created>
  <dcterms:modified xsi:type="dcterms:W3CDTF">2026-05-06T10:08:47Z</dcterms:modified>
</cp:coreProperties>
</file>