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0750"/>
          </a:xfrm>
          <a:prstGeom prst="rect">
            <a:avLst/>
          </a:prstGeom>
          <a:solidFill>
            <a:srgbClr val="44D1E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08450" y="1081980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44D1E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74320" y="1513731"/>
            <a:ext cx="8595211" cy="6254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56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ИИ-тьютор для СПО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4267200" y="2346722"/>
            <a:ext cx="609600" cy="38100"/>
          </a:xfrm>
          <a:prstGeom prst="rect">
            <a:avLst/>
          </a:prstGeom>
          <a:solidFill>
            <a:srgbClr val="44D1E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104852" y="2638723"/>
            <a:ext cx="6934148" cy="6143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40"/>
              </a:lnSpc>
              <a:spcAft>
                <a:spcPts val="800"/>
              </a:spcAft>
              <a:buNone/>
            </a:pPr>
            <a:r>
              <a:rPr lang="en-US" sz="1600" dirty="0">
                <a:solidFill>
                  <a:srgbClr val="FFFFFF">
                    <a:alpha val="75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Интеллектуальная система на базе LLM для среднего профессионального образования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450805" y="3309045"/>
            <a:ext cx="4242242" cy="267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0"/>
              </a:lnSpc>
              <a:spcAft>
                <a:spcPts val="2800"/>
              </a:spcAft>
              <a:buNone/>
            </a:pPr>
            <a:r>
              <a:rPr lang="en-US" sz="1300" dirty="0">
                <a:solidFill>
                  <a:srgbClr val="FFFFFF">
                    <a:alpha val="55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ГБПОУ РО «Сальский индустриальный техникум»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413695" y="4005709"/>
            <a:ext cx="457200" cy="12650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074045" y="3912096"/>
            <a:ext cx="3984561" cy="2160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>
                    <a:alpha val="6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Бардаков Д.Н. · Мышанская Н.Г. · 2026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273105" y="4005709"/>
            <a:ext cx="457200" cy="12650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22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743200" cy="5143500"/>
          </a:xfrm>
          <a:prstGeom prst="rect">
            <a:avLst/>
          </a:prstGeom>
          <a:solidFill>
            <a:srgbClr val="12204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2033439"/>
            <a:ext cx="2393942" cy="178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Aft>
                <a:spcPts val="800"/>
              </a:spcAft>
              <a:buNone/>
            </a:pPr>
            <a:r>
              <a:rPr lang="en-US" sz="1300" spc="200" kern="0" dirty="0">
                <a:solidFill>
                  <a:srgbClr val="44D1E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СОДЕРЖАНИЕ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06301" y="2299990"/>
            <a:ext cx="2644920" cy="4606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Структура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06301" y="2878931"/>
            <a:ext cx="2278106" cy="249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1200"/>
              </a:spcBef>
              <a:buNone/>
            </a:pPr>
            <a:r>
              <a:rPr lang="en-US" sz="1300" dirty="0">
                <a:solidFill>
                  <a:srgbClr val="FFFFFF">
                    <a:alpha val="55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 ключевых разделов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352800" y="1223367"/>
            <a:ext cx="5181600" cy="0"/>
          </a:xfrm>
          <a:prstGeom prst="line">
            <a:avLst/>
          </a:prstGeom>
          <a:noFill/>
          <a:ln w="9525">
            <a:solidFill>
              <a:srgbClr val="2A3F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52800" y="731639"/>
            <a:ext cx="841248" cy="301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2200" b="1" dirty="0">
                <a:solidFill>
                  <a:srgbClr val="44D1E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962400" y="760214"/>
            <a:ext cx="3219766" cy="303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Проблематика и решение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352800" y="1897559"/>
            <a:ext cx="5181600" cy="0"/>
          </a:xfrm>
          <a:prstGeom prst="line">
            <a:avLst/>
          </a:prstGeom>
          <a:noFill/>
          <a:ln w="9525">
            <a:solidFill>
              <a:srgbClr val="2A3F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52800" y="1405830"/>
            <a:ext cx="841248" cy="301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2200" b="1" dirty="0">
                <a:solidFill>
                  <a:srgbClr val="44D1E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962400" y="1434405"/>
            <a:ext cx="3460712" cy="303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Архитектура и функционал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352800" y="2571750"/>
            <a:ext cx="5181600" cy="0"/>
          </a:xfrm>
          <a:prstGeom prst="line">
            <a:avLst/>
          </a:prstGeom>
          <a:noFill/>
          <a:ln w="9525">
            <a:solidFill>
              <a:srgbClr val="2A3F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52800" y="2080022"/>
            <a:ext cx="841248" cy="301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2200" b="1" dirty="0">
                <a:solidFill>
                  <a:srgbClr val="44D1E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962400" y="2108597"/>
            <a:ext cx="2258261" cy="303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Модель и датасет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3352800" y="3245941"/>
            <a:ext cx="5181600" cy="0"/>
          </a:xfrm>
          <a:prstGeom prst="line">
            <a:avLst/>
          </a:prstGeom>
          <a:noFill/>
          <a:ln w="9525">
            <a:solidFill>
              <a:srgbClr val="2A3F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52800" y="2754213"/>
            <a:ext cx="841248" cy="301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2200" b="1" dirty="0">
                <a:solidFill>
                  <a:srgbClr val="44D1E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3962400" y="2782788"/>
            <a:ext cx="2807065" cy="303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Безопасность данных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3352800" y="3920133"/>
            <a:ext cx="5181600" cy="0"/>
          </a:xfrm>
          <a:prstGeom prst="line">
            <a:avLst/>
          </a:prstGeom>
          <a:noFill/>
          <a:ln w="9525">
            <a:solidFill>
              <a:srgbClr val="2A3F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52800" y="3428405"/>
            <a:ext cx="841248" cy="301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2200" b="1" dirty="0">
                <a:solidFill>
                  <a:srgbClr val="44D1E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3962400" y="3456980"/>
            <a:ext cx="3984397" cy="303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Текущий статус и дорожная карта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3352800" y="4102596"/>
            <a:ext cx="841248" cy="301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2200" b="1" dirty="0">
                <a:solidFill>
                  <a:srgbClr val="44D1E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3962400" y="4131171"/>
            <a:ext cx="1202457" cy="303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Команда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0750"/>
          </a:xfrm>
          <a:prstGeom prst="rect">
            <a:avLst/>
          </a:prstGeom>
          <a:solidFill>
            <a:srgbClr val="44D1E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406301"/>
            <a:ext cx="3135788" cy="3909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Проблематика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09600" y="879277"/>
            <a:ext cx="507950" cy="38100"/>
          </a:xfrm>
          <a:prstGeom prst="rect">
            <a:avLst/>
          </a:prstGeom>
          <a:solidFill>
            <a:srgbClr val="44D1E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09600" y="1120527"/>
            <a:ext cx="3682901" cy="1888331"/>
          </a:xfrm>
          <a:prstGeom prst="roundRect">
            <a:avLst>
              <a:gd name="adj" fmla="val 6725"/>
            </a:avLst>
          </a:prstGeom>
          <a:solidFill>
            <a:srgbClr val="243550"/>
          </a:solidFill>
          <a:ln w="9525">
            <a:solidFill>
              <a:srgbClr val="2A3F5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99618" y="1383953"/>
            <a:ext cx="41028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000"/>
              </a:lnSpc>
              <a:buNone/>
            </a:pPr>
            <a:r>
              <a:rPr lang="en-US" sz="6000" b="1" dirty="0">
                <a:solidFill>
                  <a:srgbClr val="44D1E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70%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794125" y="2247454"/>
            <a:ext cx="3313852" cy="5378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60"/>
              </a:lnSpc>
              <a:spcBef>
                <a:spcPts val="800"/>
              </a:spcBef>
              <a:buNone/>
            </a:pPr>
            <a:r>
              <a:rPr lang="en-US" sz="1400" dirty="0">
                <a:solidFill>
                  <a:srgbClr val="FFFFFF">
                    <a:alpha val="75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аудиторного времени уходит на теорию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46402" y="1120527"/>
            <a:ext cx="3682901" cy="1639342"/>
          </a:xfrm>
          <a:prstGeom prst="roundRect">
            <a:avLst>
              <a:gd name="adj" fmla="val 7747"/>
            </a:avLst>
          </a:prstGeom>
          <a:solidFill>
            <a:srgbClr val="243550"/>
          </a:solidFill>
          <a:ln w="9525">
            <a:solidFill>
              <a:srgbClr val="2A3F5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336420" y="1383953"/>
            <a:ext cx="41028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000"/>
              </a:lnSpc>
              <a:buNone/>
            </a:pPr>
            <a:r>
              <a:rPr lang="en-US" sz="6000" b="1" dirty="0">
                <a:solidFill>
                  <a:srgbClr val="EDCD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30%</a:t>
            </a:r>
            <a:endParaRPr lang="en-US" sz="6000" dirty="0"/>
          </a:p>
        </p:txBody>
      </p:sp>
      <p:sp>
        <p:nvSpPr>
          <p:cNvPr id="10" name="Text 8"/>
          <p:cNvSpPr/>
          <p:nvPr/>
        </p:nvSpPr>
        <p:spPr>
          <a:xfrm>
            <a:off x="4652025" y="2247454"/>
            <a:ext cx="3471654" cy="2689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60"/>
              </a:lnSpc>
              <a:spcBef>
                <a:spcPts val="800"/>
              </a:spcBef>
              <a:buNone/>
            </a:pPr>
            <a:r>
              <a:rPr lang="en-US" sz="1400" dirty="0">
                <a:solidFill>
                  <a:srgbClr val="FFFFFF">
                    <a:alpha val="75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остаётся на практические навыки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09600" y="3212009"/>
            <a:ext cx="7924800" cy="907852"/>
          </a:xfrm>
          <a:prstGeom prst="roundRect">
            <a:avLst>
              <a:gd name="adj" fmla="val 11191"/>
            </a:avLst>
          </a:prstGeom>
          <a:solidFill>
            <a:srgbClr val="44D1E4">
              <a:alpha val="8000"/>
            </a:srgbClr>
          </a:solidFill>
          <a:ln w="9525">
            <a:solidFill>
              <a:srgbClr val="44D1E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47725" y="3399234"/>
            <a:ext cx="782097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FFFFFF">
                    <a:alpha val="75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Преподаватели тратят время на рутину — конспекты, тесты. Практика, ключ к employability, страдает.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09600" y="4272260"/>
            <a:ext cx="50750" cy="355550"/>
          </a:xfrm>
          <a:prstGeom prst="roundRect">
            <a:avLst>
              <a:gd name="adj" fmla="val 50049"/>
            </a:avLst>
          </a:prstGeom>
          <a:solidFill>
            <a:srgbClr val="44D1E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87301" y="4326136"/>
            <a:ext cx="7493704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Цель: Перенести теорию на самостоятельную работу с ИИ-поддержкой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D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11101"/>
          </a:xfrm>
          <a:prstGeom prst="rect">
            <a:avLst/>
          </a:prstGeom>
          <a:solidFill>
            <a:srgbClr val="12204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180975"/>
            <a:ext cx="3623221" cy="377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Решение: ИИ-тьютор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09600" y="1515517"/>
            <a:ext cx="2438400" cy="1996976"/>
          </a:xfrm>
          <a:prstGeom prst="roundRect">
            <a:avLst>
              <a:gd name="adj" fmla="val 6360"/>
            </a:avLst>
          </a:prstGeom>
          <a:solidFill>
            <a:srgbClr val="243550"/>
          </a:solidFill>
          <a:ln w="9525">
            <a:solidFill>
              <a:srgbClr val="2A3F5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22275" y="1778943"/>
            <a:ext cx="457200" cy="457200"/>
          </a:xfrm>
          <a:prstGeom prst="roundRect">
            <a:avLst>
              <a:gd name="adj" fmla="val 22222"/>
            </a:avLst>
          </a:prstGeom>
          <a:solidFill>
            <a:srgbClr val="44D1E4">
              <a:alpha val="1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87177" y="1874193"/>
            <a:ext cx="17560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44D1E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275" y="2388543"/>
            <a:ext cx="2616964" cy="285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Конспекты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275" y="2754064"/>
            <a:ext cx="2113702" cy="534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FFFFFF">
                    <a:alpha val="65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Автоматическая генерация из лекций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51150" y="1515517"/>
            <a:ext cx="2438400" cy="1996976"/>
          </a:xfrm>
          <a:prstGeom prst="roundRect">
            <a:avLst>
              <a:gd name="adj" fmla="val 6360"/>
            </a:avLst>
          </a:prstGeom>
          <a:solidFill>
            <a:srgbClr val="243550"/>
          </a:solidFill>
          <a:ln w="9525">
            <a:solidFill>
              <a:srgbClr val="2A3F5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463826" y="1778943"/>
            <a:ext cx="457200" cy="457200"/>
          </a:xfrm>
          <a:prstGeom prst="roundRect">
            <a:avLst>
              <a:gd name="adj" fmla="val 22222"/>
            </a:avLst>
          </a:prstGeom>
          <a:solidFill>
            <a:srgbClr val="44D1E4">
              <a:alpha val="1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628727" y="1874193"/>
            <a:ext cx="17560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44D1E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463826" y="2388543"/>
            <a:ext cx="2616964" cy="285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Тесты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463826" y="2754064"/>
            <a:ext cx="2113702" cy="534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FFFFFF">
                    <a:alpha val="65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Самопроверка: easy / medium / hard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892701" y="1515517"/>
            <a:ext cx="2438400" cy="1996976"/>
          </a:xfrm>
          <a:prstGeom prst="roundRect">
            <a:avLst>
              <a:gd name="adj" fmla="val 6360"/>
            </a:avLst>
          </a:prstGeom>
          <a:solidFill>
            <a:srgbClr val="243550"/>
          </a:solidFill>
          <a:ln w="9525">
            <a:solidFill>
              <a:srgbClr val="2A3F5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105376" y="1778943"/>
            <a:ext cx="457200" cy="457200"/>
          </a:xfrm>
          <a:prstGeom prst="roundRect">
            <a:avLst>
              <a:gd name="adj" fmla="val 22222"/>
            </a:avLst>
          </a:prstGeom>
          <a:solidFill>
            <a:srgbClr val="44D1E4">
              <a:alpha val="1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270278" y="1874193"/>
            <a:ext cx="17560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44D1E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105376" y="2388543"/>
            <a:ext cx="2616964" cy="285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Диалог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105376" y="2754064"/>
            <a:ext cx="2113702" cy="534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FFFFFF">
                    <a:alpha val="65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Чат для уточняющих вопросов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09600" y="3715643"/>
            <a:ext cx="7924800" cy="623441"/>
          </a:xfrm>
          <a:prstGeom prst="roundRect">
            <a:avLst>
              <a:gd name="adj" fmla="val 16297"/>
            </a:avLst>
          </a:prstGeom>
          <a:solidFill>
            <a:srgbClr val="EDCD82">
              <a:alpha val="10000"/>
            </a:srgbClr>
          </a:solidFill>
          <a:ln w="9525">
            <a:solidFill>
              <a:srgbClr val="EDCD8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475298" y="3902869"/>
            <a:ext cx="8193405" cy="2689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EDCD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Интеграция через блок «ИИ Тьютор» в Moodle LMS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0750"/>
          </a:xfrm>
          <a:prstGeom prst="rect">
            <a:avLst/>
          </a:prstGeom>
          <a:solidFill>
            <a:srgbClr val="44D1E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355550"/>
            <a:ext cx="3648654" cy="3909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Как это работает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09600" y="828526"/>
            <a:ext cx="507950" cy="38100"/>
          </a:xfrm>
          <a:prstGeom prst="rect">
            <a:avLst/>
          </a:prstGeom>
          <a:solidFill>
            <a:srgbClr val="44D1E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09600" y="1127522"/>
            <a:ext cx="406301" cy="406301"/>
          </a:xfrm>
          <a:prstGeom prst="roundRect">
            <a:avLst>
              <a:gd name="adj" fmla="val 225055"/>
            </a:avLst>
          </a:prstGeom>
          <a:solidFill>
            <a:srgbClr val="44D1E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63191" y="1225897"/>
            <a:ext cx="136580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D16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93602" y="1069777"/>
            <a:ext cx="7340798" cy="521940"/>
          </a:xfrm>
          <a:prstGeom prst="roundRect">
            <a:avLst>
              <a:gd name="adj" fmla="val 19466"/>
            </a:avLst>
          </a:prstGeom>
          <a:solidFill>
            <a:srgbClr val="243550"/>
          </a:solidFill>
          <a:ln w="9525">
            <a:solidFill>
              <a:srgbClr val="2A3F5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406277" y="1206252"/>
            <a:ext cx="7606992" cy="2689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Преподаватель загружает лекцию в Moodle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09600" y="1776413"/>
            <a:ext cx="406301" cy="406301"/>
          </a:xfrm>
          <a:prstGeom prst="roundRect">
            <a:avLst>
              <a:gd name="adj" fmla="val 225055"/>
            </a:avLst>
          </a:prstGeom>
          <a:solidFill>
            <a:srgbClr val="44D1E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63191" y="1874788"/>
            <a:ext cx="136580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D16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93602" y="1718667"/>
            <a:ext cx="7340798" cy="521940"/>
          </a:xfrm>
          <a:prstGeom prst="roundRect">
            <a:avLst>
              <a:gd name="adj" fmla="val 19466"/>
            </a:avLst>
          </a:prstGeom>
          <a:solidFill>
            <a:srgbClr val="243550"/>
          </a:solidFill>
          <a:ln w="9525">
            <a:solidFill>
              <a:srgbClr val="2A3F5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406277" y="1855143"/>
            <a:ext cx="7606992" cy="2689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Moodle отправляет текст в API (FastAPI)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09600" y="2425303"/>
            <a:ext cx="406301" cy="406301"/>
          </a:xfrm>
          <a:prstGeom prst="roundRect">
            <a:avLst>
              <a:gd name="adj" fmla="val 225055"/>
            </a:avLst>
          </a:prstGeom>
          <a:solidFill>
            <a:srgbClr val="44D1E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63191" y="2523679"/>
            <a:ext cx="136580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D16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93602" y="2367558"/>
            <a:ext cx="7340798" cy="521940"/>
          </a:xfrm>
          <a:prstGeom prst="roundRect">
            <a:avLst>
              <a:gd name="adj" fmla="val 19466"/>
            </a:avLst>
          </a:prstGeom>
          <a:solidFill>
            <a:srgbClr val="243550"/>
          </a:solidFill>
          <a:ln w="9525">
            <a:solidFill>
              <a:srgbClr val="2A3F5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406277" y="2504033"/>
            <a:ext cx="7606992" cy="2689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Задача ставится в очередь (Celery + Redis)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09600" y="3074194"/>
            <a:ext cx="406301" cy="406301"/>
          </a:xfrm>
          <a:prstGeom prst="roundRect">
            <a:avLst>
              <a:gd name="adj" fmla="val 225055"/>
            </a:avLst>
          </a:prstGeom>
          <a:solidFill>
            <a:srgbClr val="EDCD8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63191" y="3172569"/>
            <a:ext cx="136580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D16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193602" y="3016448"/>
            <a:ext cx="7340798" cy="521940"/>
          </a:xfrm>
          <a:prstGeom prst="roundRect">
            <a:avLst>
              <a:gd name="adj" fmla="val 19466"/>
            </a:avLst>
          </a:prstGeom>
          <a:solidFill>
            <a:srgbClr val="243550"/>
          </a:solidFill>
          <a:ln w="9525">
            <a:solidFill>
              <a:srgbClr val="2A3F5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1406277" y="3152924"/>
            <a:ext cx="7606992" cy="2689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ИИ-тьютор генерирует результат (LLM + QLoRA)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09600" y="3723084"/>
            <a:ext cx="406301" cy="406301"/>
          </a:xfrm>
          <a:prstGeom prst="roundRect">
            <a:avLst>
              <a:gd name="adj" fmla="val 225055"/>
            </a:avLst>
          </a:prstGeom>
          <a:solidFill>
            <a:srgbClr val="44D1E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63191" y="3821460"/>
            <a:ext cx="136580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D16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193602" y="3665339"/>
            <a:ext cx="7340798" cy="521940"/>
          </a:xfrm>
          <a:prstGeom prst="roundRect">
            <a:avLst>
              <a:gd name="adj" fmla="val 19466"/>
            </a:avLst>
          </a:prstGeom>
          <a:solidFill>
            <a:srgbClr val="243550"/>
          </a:solidFill>
          <a:ln w="9525">
            <a:solidFill>
              <a:srgbClr val="2A3F5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406277" y="3801814"/>
            <a:ext cx="7606992" cy="2689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Ответ возвращается в Moodle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213360" y="4314230"/>
            <a:ext cx="8636000" cy="23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FFFFF">
                    <a:alpha val="45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Шаг 4 — ядро системы: дообученная LLM с QLoRA-адаптацией под формат СПО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622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11101"/>
          </a:xfrm>
          <a:prstGeom prst="rect">
            <a:avLst/>
          </a:prstGeom>
          <a:solidFill>
            <a:srgbClr val="12204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180975"/>
            <a:ext cx="3096555" cy="377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Модель и датасет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09600" y="1495574"/>
            <a:ext cx="507950" cy="38100"/>
          </a:xfrm>
          <a:prstGeom prst="rect">
            <a:avLst/>
          </a:prstGeom>
          <a:solidFill>
            <a:srgbClr val="44D1E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09600" y="1686074"/>
            <a:ext cx="4338259" cy="320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40"/>
              </a:lnSpc>
              <a:spcAft>
                <a:spcPts val="12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Модель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09600" y="2135535"/>
            <a:ext cx="3555950" cy="888334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algn="l" marL="114300" indent="-114300">
              <a:lnSpc>
                <a:spcPts val="2200"/>
              </a:lnSpc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Mistral Small 24B (Apache 2.0)</a:t>
            </a:r>
            <a:endParaRPr lang="en-US" sz="1400" dirty="0"/>
          </a:p>
          <a:p>
            <a:pPr algn="l" marL="114300" indent="-114300">
              <a:lnSpc>
                <a:spcPts val="2200"/>
              </a:lnSpc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QLoRA 4-bit, r=16, 7 модулей</a:t>
            </a:r>
            <a:endParaRPr lang="en-US" sz="1400" dirty="0"/>
          </a:p>
          <a:p>
            <a:pPr algn="l" marL="114300" indent="-114300">
              <a:lnSpc>
                <a:spcPts val="2200"/>
              </a:lnSpc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128K контекст, GPU-агностично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419451" y="1218605"/>
            <a:ext cx="12650" cy="2031950"/>
          </a:xfrm>
          <a:prstGeom prst="rect">
            <a:avLst/>
          </a:prstGeom>
          <a:solidFill>
            <a:srgbClr val="2A3F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686002" y="1495574"/>
            <a:ext cx="507950" cy="38100"/>
          </a:xfrm>
          <a:prstGeom prst="rect">
            <a:avLst/>
          </a:prstGeom>
          <a:solidFill>
            <a:srgbClr val="EDCD8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686002" y="1686074"/>
            <a:ext cx="4338259" cy="320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40"/>
              </a:lnSpc>
              <a:spcAft>
                <a:spcPts val="12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Датасет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686002" y="2135535"/>
            <a:ext cx="3555950" cy="888334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algn="l" marL="114300" indent="-114300">
              <a:lnSpc>
                <a:spcPts val="2200"/>
              </a:lnSpc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771 запись (train / val / test)</a:t>
            </a:r>
            <a:endParaRPr lang="en-US" sz="1400" dirty="0"/>
          </a:p>
          <a:p>
            <a:pPr algn="l" marL="114300" indent="-114300">
              <a:lnSpc>
                <a:spcPts val="2200"/>
              </a:lnSpc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67 лекций (40 ПА + 27 ИС)</a:t>
            </a:r>
            <a:endParaRPr lang="en-US" sz="1400" dirty="0"/>
          </a:p>
          <a:p>
            <a:pPr algn="l" marL="114300" indent="-114300">
              <a:lnSpc>
                <a:spcPts val="2200"/>
              </a:lnSpc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summary, quiz, chat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09600" y="3758059"/>
            <a:ext cx="2438400" cy="928241"/>
          </a:xfrm>
          <a:prstGeom prst="roundRect">
            <a:avLst>
              <a:gd name="adj" fmla="val 10945"/>
            </a:avLst>
          </a:prstGeom>
          <a:solidFill>
            <a:srgbClr val="243550"/>
          </a:solidFill>
          <a:ln w="9525">
            <a:solidFill>
              <a:srgbClr val="2A3F5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520318" y="3919984"/>
            <a:ext cx="2616964" cy="383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800"/>
              </a:lnSpc>
              <a:buNone/>
            </a:pPr>
            <a:r>
              <a:rPr lang="en-US" sz="2800" b="1" dirty="0">
                <a:solidFill>
                  <a:srgbClr val="44D1E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24B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80709" y="4326285"/>
            <a:ext cx="2496181" cy="213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60"/>
              </a:lnSpc>
              <a:spcBef>
                <a:spcPts val="400"/>
              </a:spcBef>
              <a:buNone/>
            </a:pPr>
            <a:r>
              <a:rPr lang="en-US" sz="1200" dirty="0">
                <a:solidFill>
                  <a:srgbClr val="FFFFFF">
                    <a:alpha val="55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параметров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51150" y="3758059"/>
            <a:ext cx="2438400" cy="928241"/>
          </a:xfrm>
          <a:prstGeom prst="roundRect">
            <a:avLst>
              <a:gd name="adj" fmla="val 10945"/>
            </a:avLst>
          </a:prstGeom>
          <a:solidFill>
            <a:srgbClr val="243550"/>
          </a:solidFill>
          <a:ln w="9525">
            <a:solidFill>
              <a:srgbClr val="2A3F5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081346" y="3919984"/>
            <a:ext cx="2778008" cy="383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800"/>
              </a:lnSpc>
              <a:buNone/>
            </a:pPr>
            <a:r>
              <a:rPr lang="en-US" sz="2800" b="1" dirty="0">
                <a:solidFill>
                  <a:srgbClr val="44D1E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771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3222260" y="4326285"/>
            <a:ext cx="2496181" cy="213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60"/>
              </a:lnSpc>
              <a:spcBef>
                <a:spcPts val="400"/>
              </a:spcBef>
              <a:buNone/>
            </a:pPr>
            <a:r>
              <a:rPr lang="en-US" sz="1200" dirty="0">
                <a:solidFill>
                  <a:srgbClr val="FFFFFF">
                    <a:alpha val="55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записей JSONL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892701" y="3758059"/>
            <a:ext cx="2438400" cy="928241"/>
          </a:xfrm>
          <a:prstGeom prst="roundRect">
            <a:avLst>
              <a:gd name="adj" fmla="val 10945"/>
            </a:avLst>
          </a:prstGeom>
          <a:solidFill>
            <a:srgbClr val="243550"/>
          </a:solidFill>
          <a:ln w="9525">
            <a:solidFill>
              <a:srgbClr val="2A3F5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722897" y="3919984"/>
            <a:ext cx="2778008" cy="383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800"/>
              </a:lnSpc>
              <a:buNone/>
            </a:pPr>
            <a:r>
              <a:rPr lang="en-US" sz="2800" b="1" dirty="0">
                <a:solidFill>
                  <a:srgbClr val="EDCD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5863810" y="4326285"/>
            <a:ext cx="2496181" cy="213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60"/>
              </a:lnSpc>
              <a:spcBef>
                <a:spcPts val="400"/>
              </a:spcBef>
              <a:buNone/>
            </a:pPr>
            <a:r>
              <a:rPr lang="en-US" sz="1200" dirty="0">
                <a:solidFill>
                  <a:srgbClr val="FFFFFF">
                    <a:alpha val="55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дисциплины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D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11101"/>
          </a:xfrm>
          <a:prstGeom prst="rect">
            <a:avLst/>
          </a:prstGeom>
          <a:solidFill>
            <a:srgbClr val="12204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180975"/>
            <a:ext cx="3807768" cy="377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Технологический стек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09600" y="1203424"/>
            <a:ext cx="914400" cy="720030"/>
          </a:xfrm>
          <a:prstGeom prst="roundRect">
            <a:avLst>
              <a:gd name="adj" fmla="val 14111"/>
            </a:avLst>
          </a:prstGeom>
          <a:solidFill>
            <a:srgbClr val="44D1E4">
              <a:alpha val="12000"/>
            </a:srgbClr>
          </a:solidFill>
          <a:ln w="9525">
            <a:solidFill>
              <a:srgbClr val="44D1E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03317" y="1365349"/>
            <a:ext cx="726966" cy="427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4D1E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ML / Model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701701" y="1203424"/>
            <a:ext cx="6832699" cy="720030"/>
          </a:xfrm>
          <a:prstGeom prst="roundRect">
            <a:avLst>
              <a:gd name="adj" fmla="val 14111"/>
            </a:avLst>
          </a:prstGeom>
          <a:solidFill>
            <a:srgbClr val="243550"/>
          </a:solidFill>
          <a:ln w="9525">
            <a:solidFill>
              <a:srgbClr val="2A3F5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914376" y="1447800"/>
            <a:ext cx="3542374" cy="249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PyTorch, Transformers, PEFT, QLoRA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09600" y="2050405"/>
            <a:ext cx="914400" cy="554980"/>
          </a:xfrm>
          <a:prstGeom prst="roundRect">
            <a:avLst>
              <a:gd name="adj" fmla="val 18307"/>
            </a:avLst>
          </a:prstGeom>
          <a:solidFill>
            <a:srgbClr val="44D1E4">
              <a:alpha val="12000"/>
            </a:srgbClr>
          </a:solidFill>
          <a:ln w="9525">
            <a:solidFill>
              <a:srgbClr val="44D1E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16774" y="2212330"/>
            <a:ext cx="900053" cy="213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4D1E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API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701701" y="2050405"/>
            <a:ext cx="6832699" cy="554980"/>
          </a:xfrm>
          <a:prstGeom prst="roundRect">
            <a:avLst>
              <a:gd name="adj" fmla="val 18307"/>
            </a:avLst>
          </a:prstGeom>
          <a:solidFill>
            <a:srgbClr val="243550"/>
          </a:solidFill>
          <a:ln w="9525">
            <a:solidFill>
              <a:srgbClr val="2A3F5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914376" y="2212330"/>
            <a:ext cx="3026060" cy="249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FastAPI, Celery, Redis, Pydantic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09600" y="2732336"/>
            <a:ext cx="914400" cy="554980"/>
          </a:xfrm>
          <a:prstGeom prst="roundRect">
            <a:avLst>
              <a:gd name="adj" fmla="val 18307"/>
            </a:avLst>
          </a:prstGeom>
          <a:solidFill>
            <a:srgbClr val="EDCD82">
              <a:alpha val="12000"/>
            </a:srgbClr>
          </a:solidFill>
          <a:ln w="9525">
            <a:solidFill>
              <a:srgbClr val="EDCD8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16774" y="2894261"/>
            <a:ext cx="900053" cy="213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EDCD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LMS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701701" y="2732336"/>
            <a:ext cx="6832699" cy="554980"/>
          </a:xfrm>
          <a:prstGeom prst="roundRect">
            <a:avLst>
              <a:gd name="adj" fmla="val 18307"/>
            </a:avLst>
          </a:prstGeom>
          <a:solidFill>
            <a:srgbClr val="243550"/>
          </a:solidFill>
          <a:ln w="9525">
            <a:solidFill>
              <a:srgbClr val="2A3F5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914376" y="2894261"/>
            <a:ext cx="3147060" cy="249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Moodle Local Plugin, Block, AJAX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09600" y="3414266"/>
            <a:ext cx="914400" cy="554980"/>
          </a:xfrm>
          <a:prstGeom prst="roundRect">
            <a:avLst>
              <a:gd name="adj" fmla="val 18307"/>
            </a:avLst>
          </a:prstGeom>
          <a:solidFill>
            <a:srgbClr val="44D1E4">
              <a:alpha val="12000"/>
            </a:srgbClr>
          </a:solidFill>
          <a:ln w="9525">
            <a:solidFill>
              <a:srgbClr val="44D1E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16774" y="3576191"/>
            <a:ext cx="900053" cy="213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44D1E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Infra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701701" y="3414266"/>
            <a:ext cx="6832699" cy="554980"/>
          </a:xfrm>
          <a:prstGeom prst="roundRect">
            <a:avLst>
              <a:gd name="adj" fmla="val 18307"/>
            </a:avLst>
          </a:prstGeom>
          <a:solidFill>
            <a:srgbClr val="243550"/>
          </a:solidFill>
          <a:ln w="9525">
            <a:solidFill>
              <a:srgbClr val="2A3F5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914376" y="3576191"/>
            <a:ext cx="2773873" cy="249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Docker, Prometheus, Grafana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09600" y="4096196"/>
            <a:ext cx="914400" cy="554980"/>
          </a:xfrm>
          <a:prstGeom prst="roundRect">
            <a:avLst>
              <a:gd name="adj" fmla="val 18307"/>
            </a:avLst>
          </a:prstGeom>
          <a:solidFill>
            <a:srgbClr val="EDCD82">
              <a:alpha val="12000"/>
            </a:srgbClr>
          </a:solidFill>
          <a:ln w="9525">
            <a:solidFill>
              <a:srgbClr val="EDCD8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16774" y="4258121"/>
            <a:ext cx="900053" cy="213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EDCD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Security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701701" y="4096196"/>
            <a:ext cx="6832699" cy="554980"/>
          </a:xfrm>
          <a:prstGeom prst="roundRect">
            <a:avLst>
              <a:gd name="adj" fmla="val 18307"/>
            </a:avLst>
          </a:prstGeom>
          <a:solidFill>
            <a:srgbClr val="243550"/>
          </a:solidFill>
          <a:ln w="9525">
            <a:solidFill>
              <a:srgbClr val="2A3F5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1914376" y="4258121"/>
            <a:ext cx="2924904" cy="249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On-premise, Safetensors, UFW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0750"/>
          </a:xfrm>
          <a:prstGeom prst="rect">
            <a:avLst/>
          </a:prstGeom>
          <a:solidFill>
            <a:srgbClr val="44D1E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191000" y="524024"/>
            <a:ext cx="762000" cy="762000"/>
          </a:xfrm>
          <a:prstGeom prst="roundRect">
            <a:avLst>
              <a:gd name="adj" fmla="val 120000"/>
            </a:avLst>
          </a:prstGeom>
          <a:noFill/>
          <a:ln w="38100">
            <a:solidFill>
              <a:srgbClr val="44D1E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94150" y="727174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44D1E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941759" y="1539925"/>
            <a:ext cx="3260333" cy="192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spcAft>
                <a:spcPts val="1200"/>
              </a:spcAft>
              <a:buNone/>
            </a:pPr>
            <a:r>
              <a:rPr lang="en-US" sz="1400" spc="200" kern="0" dirty="0">
                <a:solidFill>
                  <a:srgbClr val="44D1E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БЕЗОПАСНОСТЬ ДАННЫХ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74320" y="1870174"/>
            <a:ext cx="8595211" cy="9599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500"/>
              </a:lnSpc>
              <a:spcAft>
                <a:spcPts val="2400"/>
              </a:spcAft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Данные не покидают периметр техникума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267200" y="3063776"/>
            <a:ext cx="609600" cy="38100"/>
          </a:xfrm>
          <a:prstGeom prst="rect">
            <a:avLst/>
          </a:prstGeom>
          <a:solidFill>
            <a:srgbClr val="44D1E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015901" y="3431977"/>
            <a:ext cx="50750" cy="457200"/>
          </a:xfrm>
          <a:prstGeom prst="roundRect">
            <a:avLst>
              <a:gd name="adj" fmla="val 50049"/>
            </a:avLst>
          </a:prstGeom>
          <a:solidFill>
            <a:srgbClr val="44D1E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193602" y="3406676"/>
            <a:ext cx="3699516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On-premise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93602" y="3705076"/>
            <a:ext cx="3348700" cy="49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FFFFF">
                    <a:alpha val="6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Сервер в техникуме, изоляция от интернета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687639" y="3431977"/>
            <a:ext cx="50750" cy="457200"/>
          </a:xfrm>
          <a:prstGeom prst="roundRect">
            <a:avLst>
              <a:gd name="adj" fmla="val 50049"/>
            </a:avLst>
          </a:prstGeom>
          <a:solidFill>
            <a:srgbClr val="EDCD8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865340" y="3406676"/>
            <a:ext cx="3980566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ФЗ-152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865340" y="3705076"/>
            <a:ext cx="3425897" cy="49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FFFFF">
                    <a:alpha val="6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Персональные данные студентов защищены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860573" y="4471839"/>
            <a:ext cx="3422705" cy="213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60"/>
              </a:lnSpc>
              <a:spcBef>
                <a:spcPts val="2400"/>
              </a:spcBef>
              <a:buNone/>
            </a:pPr>
            <a:r>
              <a:rPr lang="en-US" sz="1200" dirty="0">
                <a:solidFill>
                  <a:srgbClr val="FFFFFF">
                    <a:alpha val="4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В отличие от ChatGPT и облачных решений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622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0750"/>
          </a:xfrm>
          <a:prstGeom prst="rect">
            <a:avLst/>
          </a:prstGeom>
          <a:solidFill>
            <a:srgbClr val="44D1E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431750"/>
            <a:ext cx="3393310" cy="4011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Текущий статус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10771" y="355550"/>
            <a:ext cx="1138476" cy="5040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44D1E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56%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00168" y="574625"/>
            <a:ext cx="1530447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>
                    <a:alpha val="6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общий прогресс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09600" y="1025426"/>
            <a:ext cx="2438400" cy="1548854"/>
          </a:xfrm>
          <a:prstGeom prst="roundRect">
            <a:avLst>
              <a:gd name="adj" fmla="val 8200"/>
            </a:avLst>
          </a:prstGeom>
          <a:solidFill>
            <a:srgbClr val="243550"/>
          </a:solidFill>
          <a:ln w="9525">
            <a:solidFill>
              <a:srgbClr val="2A3F5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19666" y="1288852"/>
            <a:ext cx="2818269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44D1E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580709" y="1847552"/>
            <a:ext cx="2496181" cy="249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20"/>
              </a:lnSpc>
              <a:spcBef>
                <a:spcPts val="800"/>
              </a:spcBef>
              <a:buNone/>
            </a:pPr>
            <a:r>
              <a:rPr lang="en-US" sz="1300" dirty="0">
                <a:solidFill>
                  <a:srgbClr val="FFFFFF">
                    <a:alpha val="65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эндпоинтов API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1101" y="2129284"/>
            <a:ext cx="2375398" cy="196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spcBef>
                <a:spcPts val="400"/>
              </a:spcBef>
              <a:buNone/>
            </a:pPr>
            <a:r>
              <a:rPr lang="en-US" sz="1100" dirty="0">
                <a:solidFill>
                  <a:srgbClr val="FFFFFF">
                    <a:alpha val="4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sync + async + system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251150" y="1025426"/>
            <a:ext cx="2438400" cy="1548854"/>
          </a:xfrm>
          <a:prstGeom prst="roundRect">
            <a:avLst>
              <a:gd name="adj" fmla="val 8200"/>
            </a:avLst>
          </a:prstGeom>
          <a:solidFill>
            <a:srgbClr val="243550"/>
          </a:solidFill>
          <a:ln w="9525">
            <a:solidFill>
              <a:srgbClr val="2A3F5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061216" y="1288852"/>
            <a:ext cx="2818269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44D1E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67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3282651" y="1847552"/>
            <a:ext cx="2375398" cy="249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20"/>
              </a:lnSpc>
              <a:spcBef>
                <a:spcPts val="800"/>
              </a:spcBef>
              <a:buNone/>
            </a:pPr>
            <a:r>
              <a:rPr lang="en-US" sz="1300" dirty="0">
                <a:solidFill>
                  <a:srgbClr val="FFFFFF">
                    <a:alpha val="65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лекций оцифровано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282651" y="2129284"/>
            <a:ext cx="2375398" cy="196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spcBef>
                <a:spcPts val="400"/>
              </a:spcBef>
              <a:buNone/>
            </a:pPr>
            <a:r>
              <a:rPr lang="en-US" sz="1100" dirty="0">
                <a:solidFill>
                  <a:srgbClr val="FFFFFF">
                    <a:alpha val="4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771 JSONL записей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892701" y="1025426"/>
            <a:ext cx="2438400" cy="1548854"/>
          </a:xfrm>
          <a:prstGeom prst="roundRect">
            <a:avLst>
              <a:gd name="adj" fmla="val 8200"/>
            </a:avLst>
          </a:prstGeom>
          <a:solidFill>
            <a:srgbClr val="243550"/>
          </a:solidFill>
          <a:ln w="9525">
            <a:solidFill>
              <a:srgbClr val="2A3F5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702766" y="1288852"/>
            <a:ext cx="2818269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EDCD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65/117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5924202" y="1847552"/>
            <a:ext cx="2375398" cy="249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20"/>
              </a:lnSpc>
              <a:spcBef>
                <a:spcPts val="800"/>
              </a:spcBef>
              <a:buNone/>
            </a:pPr>
            <a:r>
              <a:rPr lang="en-US" sz="1300" dirty="0">
                <a:solidFill>
                  <a:srgbClr val="FFFFFF">
                    <a:alpha val="65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задач выполнено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924202" y="2129284"/>
            <a:ext cx="2375398" cy="196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spcBef>
                <a:spcPts val="400"/>
              </a:spcBef>
              <a:buNone/>
            </a:pPr>
            <a:r>
              <a:rPr lang="en-US" sz="1100" dirty="0">
                <a:solidFill>
                  <a:srgbClr val="FFFFFF">
                    <a:alpha val="4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чеклист проекта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09600" y="2777430"/>
            <a:ext cx="853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FFFFFF">
                    <a:alpha val="55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MILESTONES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09600" y="3056781"/>
            <a:ext cx="739080" cy="420142"/>
          </a:xfrm>
          <a:prstGeom prst="roundRect">
            <a:avLst>
              <a:gd name="adj" fmla="val 18137"/>
            </a:avLst>
          </a:prstGeom>
          <a:solidFill>
            <a:srgbClr val="44D1E4">
              <a:alpha val="15000"/>
            </a:srgbClr>
          </a:solidFill>
          <a:ln w="9525">
            <a:solidFill>
              <a:srgbClr val="44D1E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771525" y="3167807"/>
            <a:ext cx="581323" cy="2139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4D1E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v0.3.0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450181" y="3254127"/>
            <a:ext cx="203150" cy="25301"/>
          </a:xfrm>
          <a:prstGeom prst="rect">
            <a:avLst/>
          </a:prstGeom>
          <a:solidFill>
            <a:srgbClr val="2A3F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1754832" y="3056781"/>
            <a:ext cx="739080" cy="420142"/>
          </a:xfrm>
          <a:prstGeom prst="roundRect">
            <a:avLst>
              <a:gd name="adj" fmla="val 18137"/>
            </a:avLst>
          </a:prstGeom>
          <a:solidFill>
            <a:srgbClr val="EDCD82">
              <a:alpha val="10000"/>
            </a:srgbClr>
          </a:solidFill>
          <a:ln w="9525">
            <a:solidFill>
              <a:srgbClr val="EDCD8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1916757" y="3167807"/>
            <a:ext cx="581323" cy="2139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EDCD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v0.4.0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595414" y="3254127"/>
            <a:ext cx="203150" cy="25301"/>
          </a:xfrm>
          <a:prstGeom prst="rect">
            <a:avLst/>
          </a:prstGeom>
          <a:solidFill>
            <a:srgbClr val="2A3F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2900065" y="3056781"/>
            <a:ext cx="739080" cy="420142"/>
          </a:xfrm>
          <a:prstGeom prst="roundRect">
            <a:avLst>
              <a:gd name="adj" fmla="val 18137"/>
            </a:avLst>
          </a:prstGeom>
          <a:solidFill>
            <a:srgbClr val="EDCD82">
              <a:alpha val="10000"/>
            </a:srgbClr>
          </a:solidFill>
          <a:ln w="9525">
            <a:solidFill>
              <a:srgbClr val="EDCD8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3061990" y="3167807"/>
            <a:ext cx="581323" cy="2139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EDCD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v0.5.0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740646" y="3254127"/>
            <a:ext cx="203150" cy="25301"/>
          </a:xfrm>
          <a:prstGeom prst="rect">
            <a:avLst/>
          </a:prstGeom>
          <a:solidFill>
            <a:srgbClr val="2A3F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045297" y="3056781"/>
            <a:ext cx="739080" cy="420142"/>
          </a:xfrm>
          <a:prstGeom prst="roundRect">
            <a:avLst>
              <a:gd name="adj" fmla="val 18137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4207222" y="3167807"/>
            <a:ext cx="581323" cy="2139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FFFFFF">
                    <a:alpha val="5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v1.0.0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09600" y="3553123"/>
            <a:ext cx="92443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4D1E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Инфра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726853" y="3553123"/>
            <a:ext cx="92443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EDCD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Обучение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2844105" y="3553123"/>
            <a:ext cx="92443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EDCD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Пилот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961358" y="3553123"/>
            <a:ext cx="96138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>
                    <a:alpha val="35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Продакшен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D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11101"/>
          </a:xfrm>
          <a:prstGeom prst="rect">
            <a:avLst/>
          </a:prstGeom>
          <a:solidFill>
            <a:srgbClr val="12204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180975"/>
            <a:ext cx="2918429" cy="377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Дорожная карта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35280" y="1531739"/>
            <a:ext cx="1188720" cy="178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44D1E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Q1 2026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701701" y="1525339"/>
            <a:ext cx="177701" cy="177701"/>
          </a:xfrm>
          <a:prstGeom prst="roundRect">
            <a:avLst>
              <a:gd name="adj" fmla="val 514572"/>
            </a:avLst>
          </a:prstGeom>
          <a:solidFill>
            <a:srgbClr val="44D1E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057102" y="1362224"/>
            <a:ext cx="6477298" cy="504081"/>
          </a:xfrm>
          <a:prstGeom prst="roundRect">
            <a:avLst>
              <a:gd name="adj" fmla="val 20156"/>
            </a:avLst>
          </a:prstGeom>
          <a:solidFill>
            <a:srgbClr val="44D1E4">
              <a:alpha val="10000"/>
            </a:srgbClr>
          </a:solidFill>
          <a:ln w="9525">
            <a:solidFill>
              <a:srgbClr val="44D1E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2269778" y="1498699"/>
            <a:ext cx="1891924" cy="249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v0.2.0 — Прототип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890570" y="1537990"/>
            <a:ext cx="603617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4D1E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Готово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35280" y="2188220"/>
            <a:ext cx="1188720" cy="178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44D1E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Q2 2026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701701" y="2181820"/>
            <a:ext cx="177701" cy="177701"/>
          </a:xfrm>
          <a:prstGeom prst="roundRect">
            <a:avLst>
              <a:gd name="adj" fmla="val 514572"/>
            </a:avLst>
          </a:prstGeom>
          <a:solidFill>
            <a:srgbClr val="44D1E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057102" y="2018705"/>
            <a:ext cx="6477298" cy="504081"/>
          </a:xfrm>
          <a:prstGeom prst="roundRect">
            <a:avLst>
              <a:gd name="adj" fmla="val 20156"/>
            </a:avLst>
          </a:prstGeom>
          <a:solidFill>
            <a:srgbClr val="44D1E4">
              <a:alpha val="10000"/>
            </a:srgbClr>
          </a:solidFill>
          <a:ln w="9525">
            <a:solidFill>
              <a:srgbClr val="44D1E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2269778" y="2155180"/>
            <a:ext cx="3438585" cy="249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v0.3.0 — Инфраструктура + датасет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890570" y="2194471"/>
            <a:ext cx="603617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4D1E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Готово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35280" y="2844701"/>
            <a:ext cx="1188720" cy="178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EDCD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Q3 2026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701701" y="2838301"/>
            <a:ext cx="177701" cy="177701"/>
          </a:xfrm>
          <a:prstGeom prst="roundRect">
            <a:avLst>
              <a:gd name="adj" fmla="val 514572"/>
            </a:avLst>
          </a:prstGeom>
          <a:solidFill>
            <a:srgbClr val="EDCD8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2057102" y="2675186"/>
            <a:ext cx="6477298" cy="504081"/>
          </a:xfrm>
          <a:prstGeom prst="roundRect">
            <a:avLst>
              <a:gd name="adj" fmla="val 20156"/>
            </a:avLst>
          </a:prstGeom>
          <a:solidFill>
            <a:srgbClr val="243550"/>
          </a:solidFill>
          <a:ln w="9525">
            <a:solidFill>
              <a:srgbClr val="2A3F5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2269778" y="2811661"/>
            <a:ext cx="6657142" cy="249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v0.4.0 — Дообучение модели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35280" y="3501182"/>
            <a:ext cx="1188720" cy="178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EDCD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Q4 2026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701701" y="3494782"/>
            <a:ext cx="177701" cy="177701"/>
          </a:xfrm>
          <a:prstGeom prst="roundRect">
            <a:avLst>
              <a:gd name="adj" fmla="val 514572"/>
            </a:avLst>
          </a:prstGeom>
          <a:solidFill>
            <a:srgbClr val="FFFFFF">
              <a:alpha val="2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2057102" y="3331666"/>
            <a:ext cx="6477298" cy="504081"/>
          </a:xfrm>
          <a:prstGeom prst="roundRect">
            <a:avLst>
              <a:gd name="adj" fmla="val 20156"/>
            </a:avLst>
          </a:prstGeom>
          <a:solidFill>
            <a:srgbClr val="243550"/>
          </a:solidFill>
          <a:ln w="9525">
            <a:solidFill>
              <a:srgbClr val="2A3F5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2269778" y="3468142"/>
            <a:ext cx="6657142" cy="249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v0.5.0 — Пилот в группе 15.02.14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35280" y="4157663"/>
            <a:ext cx="1188720" cy="178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FFFFFF">
                    <a:alpha val="4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Q1 2027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701701" y="4151263"/>
            <a:ext cx="177701" cy="177701"/>
          </a:xfrm>
          <a:prstGeom prst="roundRect">
            <a:avLst>
              <a:gd name="adj" fmla="val 514572"/>
            </a:avLst>
          </a:prstGeom>
          <a:solidFill>
            <a:srgbClr val="FFFFFF">
              <a:alpha val="1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2057102" y="3988147"/>
            <a:ext cx="6477298" cy="504081"/>
          </a:xfrm>
          <a:prstGeom prst="roundRect">
            <a:avLst>
              <a:gd name="adj" fmla="val 20156"/>
            </a:avLst>
          </a:prstGeom>
          <a:solidFill>
            <a:srgbClr val="243550"/>
          </a:solidFill>
          <a:ln w="9525">
            <a:solidFill>
              <a:srgbClr val="2A3F5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2269778" y="4124623"/>
            <a:ext cx="6657142" cy="249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FFFFFF">
                    <a:alpha val="65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v1.0.0 — Продакшен-релиз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22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3048000" cy="5143500"/>
          </a:xfrm>
          <a:prstGeom prst="rect">
            <a:avLst/>
          </a:prstGeom>
          <a:solidFill>
            <a:srgbClr val="12204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1756618"/>
            <a:ext cx="406301" cy="38100"/>
          </a:xfrm>
          <a:prstGeom prst="rect">
            <a:avLst/>
          </a:prstGeom>
          <a:solidFill>
            <a:srgbClr val="44D1E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06301" y="1997869"/>
            <a:ext cx="2794248" cy="85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20"/>
              </a:lnSpc>
              <a:spcAft>
                <a:spcPts val="800"/>
              </a:spcAft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Проектная команда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06301" y="2891730"/>
            <a:ext cx="2347168" cy="534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FFFFFF">
                    <a:alpha val="55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ГБПОУ РО «Сальский индустриальный техникум»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555950" y="1191518"/>
            <a:ext cx="5080099" cy="1278582"/>
          </a:xfrm>
          <a:prstGeom prst="roundRect">
            <a:avLst>
              <a:gd name="adj" fmla="val 9933"/>
            </a:avLst>
          </a:prstGeom>
          <a:solidFill>
            <a:srgbClr val="243550"/>
          </a:solidFill>
          <a:ln w="9525">
            <a:solidFill>
              <a:srgbClr val="2A3F5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3819376" y="1429643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44D1E4">
              <a:alpha val="1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032796" y="1607344"/>
            <a:ext cx="237396" cy="2743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44D1E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Б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632127" y="1429643"/>
            <a:ext cx="4338977" cy="285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Бардаков Д.Н.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632127" y="1744414"/>
            <a:ext cx="4114547" cy="213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44D1E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Руководитель проекта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632127" y="2018705"/>
            <a:ext cx="4114547" cy="23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FFFFF">
                    <a:alpha val="6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Архитектура, разработка ПО, ML, инфраструктура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555950" y="2673251"/>
            <a:ext cx="5080099" cy="1278582"/>
          </a:xfrm>
          <a:prstGeom prst="roundRect">
            <a:avLst>
              <a:gd name="adj" fmla="val 9933"/>
            </a:avLst>
          </a:prstGeom>
          <a:solidFill>
            <a:srgbClr val="243550"/>
          </a:solidFill>
          <a:ln w="9525">
            <a:solidFill>
              <a:srgbClr val="2A3F5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819376" y="2911376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EDCD82">
              <a:alpha val="1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018359" y="3089077"/>
            <a:ext cx="275124" cy="2743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EDCD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М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632127" y="2911376"/>
            <a:ext cx="4338977" cy="285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Мышанская Н.Г.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632127" y="3226147"/>
            <a:ext cx="4511873" cy="213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EDCD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Методист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632127" y="3500438"/>
            <a:ext cx="4114547" cy="23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FFFFF">
                    <a:alpha val="6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Контент, датасет, методические рекомендации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0750"/>
          </a:xfrm>
          <a:prstGeom prst="rect">
            <a:avLst/>
          </a:prstGeom>
          <a:solidFill>
            <a:srgbClr val="44D1E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08450" y="1229469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44D1E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74320" y="1661220"/>
            <a:ext cx="8595360" cy="559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08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Спасибо за внимание!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267200" y="2433191"/>
            <a:ext cx="609600" cy="38100"/>
          </a:xfrm>
          <a:prstGeom prst="rect">
            <a:avLst/>
          </a:prstGeom>
          <a:solidFill>
            <a:srgbClr val="44D1E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685068" y="2725192"/>
            <a:ext cx="3773865" cy="326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380"/>
              </a:lnSpc>
              <a:spcAft>
                <a:spcPts val="2800"/>
              </a:spcAft>
              <a:buNone/>
            </a:pPr>
            <a:r>
              <a:rPr lang="en-US" sz="1700" dirty="0">
                <a:solidFill>
                  <a:srgbClr val="FFFFFF">
                    <a:alpha val="65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Готовы ответить на ваши вопросы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2995322" y="3383012"/>
            <a:ext cx="3153207" cy="2689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6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44D1E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Бардаков Д.Н. · Мышанская Н.Г.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168232" y="3733502"/>
            <a:ext cx="4807535" cy="249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FFFFF">
                    <a:alpha val="45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ГБПОУ РО «Сальский индустриальный техникум» · 2026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2026-05-06T08:26:57Z</dcterms:created>
  <dcterms:modified xsi:type="dcterms:W3CDTF">2026-05-06T08:26:57Z</dcterms:modified>
</cp:coreProperties>
</file>