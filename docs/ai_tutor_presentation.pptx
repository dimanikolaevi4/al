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al/docs/pptx-workspace/cover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2040">
              <a:alpha val="8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267200" y="1026468"/>
            <a:ext cx="609600" cy="3810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74320" y="1369368"/>
            <a:ext cx="8595211" cy="592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ИИ-тьютор для СПО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632414" y="2121098"/>
            <a:ext cx="5879172" cy="713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spcBef>
                <a:spcPts val="1600"/>
              </a:spcBef>
              <a:buNone/>
            </a:pPr>
            <a:r>
              <a:rPr lang="en-US" sz="20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Интеллектуальная система на базе LLM</a:t>
            </a:r>
            <a:endParaRPr lang="en-US" sz="2000" dirty="0"/>
          </a:p>
          <a:p>
            <a:pPr algn="ctr" indent="0" marL="0">
              <a:lnSpc>
                <a:spcPts val="2600"/>
              </a:lnSpc>
              <a:spcBef>
                <a:spcPts val="1600"/>
              </a:spcBef>
              <a:buNone/>
            </a:pPr>
            <a:r>
              <a:rPr lang="en-US" sz="20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для среднего профессионального образования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267200" y="3137148"/>
            <a:ext cx="609600" cy="3810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288240" y="3530798"/>
            <a:ext cx="4567371" cy="307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ГБПОУ РО «Сальский индустриальный техникум»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804413" y="3916859"/>
            <a:ext cx="3535174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Бардаков Д.Н. · Мышанская Н.Г. ·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8534400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Содержание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278136"/>
            <a:ext cx="7924800" cy="660350"/>
          </a:xfrm>
          <a:prstGeom prst="roundRect">
            <a:avLst>
              <a:gd name="adj" fmla="val 15386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98284" y="1277987"/>
            <a:ext cx="1013770" cy="713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1B2A4A">
                    <a:alpha val="6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01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63501" y="1430536"/>
            <a:ext cx="38100" cy="35555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04751" y="1479649"/>
            <a:ext cx="3219766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Проблематика и решение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9600" y="2039987"/>
            <a:ext cx="7924800" cy="660350"/>
          </a:xfrm>
          <a:prstGeom prst="roundRect">
            <a:avLst>
              <a:gd name="adj" fmla="val 15386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98284" y="2039838"/>
            <a:ext cx="1013770" cy="713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1B2A4A">
                    <a:alpha val="6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02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863501" y="2192387"/>
            <a:ext cx="38100" cy="35555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04751" y="2241500"/>
            <a:ext cx="3460712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Архитектура и функционал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09600" y="2801838"/>
            <a:ext cx="7924800" cy="660350"/>
          </a:xfrm>
          <a:prstGeom prst="roundRect">
            <a:avLst>
              <a:gd name="adj" fmla="val 15386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698284" y="2801689"/>
            <a:ext cx="1013770" cy="713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1B2A4A">
                    <a:alpha val="6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03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863501" y="2954238"/>
            <a:ext cx="38100" cy="35555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04751" y="3003352"/>
            <a:ext cx="3984397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Текущий статус и дорожная карта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09600" y="3563689"/>
            <a:ext cx="7924800" cy="660350"/>
          </a:xfrm>
          <a:prstGeom prst="roundRect">
            <a:avLst>
              <a:gd name="adj" fmla="val 15386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698284" y="3563541"/>
            <a:ext cx="1013770" cy="713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1B2A4A">
                    <a:alpha val="6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04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863501" y="3716089"/>
            <a:ext cx="38100" cy="35555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04751" y="3765203"/>
            <a:ext cx="2802148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Безопасность и риски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09600" y="4325541"/>
            <a:ext cx="7924800" cy="660350"/>
          </a:xfrm>
          <a:prstGeom prst="roundRect">
            <a:avLst>
              <a:gd name="adj" fmla="val 15386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698284" y="4325392"/>
            <a:ext cx="1013770" cy="713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1B2A4A">
                    <a:alpha val="6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05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863501" y="4477941"/>
            <a:ext cx="38100" cy="355550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04751" y="4527054"/>
            <a:ext cx="3555194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Команда и следующие шаги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04651"/>
            <a:ext cx="86360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spc="200" kern="0" dirty="0">
                <a:solidFill>
                  <a:srgbClr val="2A9D8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ПРОБЛЕМАТИКА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526852"/>
            <a:ext cx="5768950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Дисбаланс учебного процесса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980777"/>
            <a:ext cx="507950" cy="3810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247329"/>
            <a:ext cx="8128099" cy="705892"/>
          </a:xfrm>
          <a:prstGeom prst="roundRect">
            <a:avLst>
              <a:gd name="adj" fmla="val 1439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0626" y="144780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0610" y="1524000"/>
            <a:ext cx="1170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52376" y="1383804"/>
            <a:ext cx="3663851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70% времени — теория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52376" y="1618655"/>
            <a:ext cx="3663851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Аудиторные часы уходят на изложение лекций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950" y="2054721"/>
            <a:ext cx="8128099" cy="705892"/>
          </a:xfrm>
          <a:prstGeom prst="roundRect">
            <a:avLst>
              <a:gd name="adj" fmla="val 1439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20626" y="225519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30610" y="2331393"/>
            <a:ext cx="1170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52376" y="2191196"/>
            <a:ext cx="349883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30% времени — практика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52376" y="2426047"/>
            <a:ext cx="3498830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Практика — ключевой компонент подготовки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7950" y="2862114"/>
            <a:ext cx="8128099" cy="705892"/>
          </a:xfrm>
          <a:prstGeom prst="roundRect">
            <a:avLst>
              <a:gd name="adj" fmla="val 1439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20626" y="306258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30610" y="3138785"/>
            <a:ext cx="1170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52376" y="2998589"/>
            <a:ext cx="3755365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Слабая обратная связь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52376" y="3233440"/>
            <a:ext cx="3755365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Студенты не проверяют понимание до практики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950" y="3669506"/>
            <a:ext cx="8128099" cy="705892"/>
          </a:xfrm>
          <a:prstGeom prst="roundRect">
            <a:avLst>
              <a:gd name="adj" fmla="val 1439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20626" y="386997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30610" y="3946178"/>
            <a:ext cx="1170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2376" y="3805982"/>
            <a:ext cx="401435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Рутинная нагрузка преподавателя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52376" y="4040832"/>
            <a:ext cx="4014356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Повторное объяснение материала разным группам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174950" cy="514350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525042"/>
            <a:ext cx="3203004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spc="200" kern="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РЕШЕНИЕ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5550" y="1877467"/>
            <a:ext cx="3203004" cy="536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1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ИИ-тьютор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55550" y="2577108"/>
            <a:ext cx="406301" cy="3810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5550" y="2818358"/>
            <a:ext cx="2587042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Перенос теории на самостоятельную работу с ИИ-поддержкой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32150" y="1240780"/>
            <a:ext cx="50750" cy="457200"/>
          </a:xfrm>
          <a:prstGeom prst="roundRect">
            <a:avLst>
              <a:gd name="adj" fmla="val 50049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09851" y="1202680"/>
            <a:ext cx="5101397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Студент изучает теорию дома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09851" y="1459855"/>
            <a:ext cx="5101397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Конспекты, тесты для самопроверки, диалоговый помощник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32150" y="1913781"/>
            <a:ext cx="50750" cy="457200"/>
          </a:xfrm>
          <a:prstGeom prst="roundRect">
            <a:avLst>
              <a:gd name="adj" fmla="val 50049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09851" y="1875681"/>
            <a:ext cx="533414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Преподаватель фокусируется на практике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09851" y="2132856"/>
            <a:ext cx="5120796" cy="49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Отработка навыков, разбор сложных случаев, индивидуальная работа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32150" y="2810619"/>
            <a:ext cx="50750" cy="457200"/>
          </a:xfrm>
          <a:prstGeom prst="roundRect">
            <a:avLst>
              <a:gd name="adj" fmla="val 50049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809851" y="2772519"/>
            <a:ext cx="4570646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Интеграция с Moodle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09851" y="3029694"/>
            <a:ext cx="4570646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Кнопка «Создать конспект» прямо в интерфейсе ЭОС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32150" y="3483620"/>
            <a:ext cx="50750" cy="457200"/>
          </a:xfrm>
          <a:prstGeom prst="roundRect">
            <a:avLst>
              <a:gd name="adj" fmla="val 50049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809851" y="3445520"/>
            <a:ext cx="4390891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Ожидаемый эффект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809851" y="3702695"/>
            <a:ext cx="4390891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+15-20% средний балл · +40% времени на практику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3625"/>
            <a:ext cx="2901962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Как это работает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606748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5252" y="1752749"/>
            <a:ext cx="17560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451" y="1454348"/>
            <a:ext cx="3129141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Преподаватель загружает лекцию в Moodle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451" y="1917799"/>
            <a:ext cx="3129141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3D5A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Текст лекции через привычный интерфейс ЭОС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54736" y="1873448"/>
            <a:ext cx="355550" cy="25301"/>
          </a:xfrm>
          <a:prstGeom prst="rect">
            <a:avLst/>
          </a:prstGeom>
          <a:solidFill>
            <a:srgbClr val="B0C4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13437" y="1606748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29089" y="1752749"/>
            <a:ext cx="17560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875288" y="1454348"/>
            <a:ext cx="2792068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Студент нажимает «Создать конспект»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75288" y="1917799"/>
            <a:ext cx="2792068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3D5A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Одна кнопка в интерфейсе Moodle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9600" y="2673400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5252" y="2819400"/>
            <a:ext cx="17560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451" y="2521000"/>
            <a:ext cx="3224934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ИИ-тьютор генерирует материалы (3-5 сек)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451" y="2984450"/>
            <a:ext cx="3224934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3D5A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Конспект, тесты, объяснения — на сервере техникума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45968" y="2940100"/>
            <a:ext cx="355550" cy="25301"/>
          </a:xfrm>
          <a:prstGeom prst="rect">
            <a:avLst/>
          </a:prstGeom>
          <a:solidFill>
            <a:srgbClr val="B0C4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204668" y="2673400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420320" y="2819400"/>
            <a:ext cx="17560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66520" y="2521000"/>
            <a:ext cx="2696274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Студент изучает и проверяет знания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66520" y="2984450"/>
            <a:ext cx="2696274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3D5A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Тесты для самопроверки, диалог с тьютором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40359" y="3689152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656011" y="3835152"/>
            <a:ext cx="17560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202210" y="3746302"/>
            <a:ext cx="6051575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Преподаватель видит статистику и корректирует процесс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202210" y="3990677"/>
            <a:ext cx="605157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3D5A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Аналитика использования, выявление сложных тем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3625"/>
            <a:ext cx="4325131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Функционал ИИ-тьютора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863501"/>
            <a:ext cx="3759101" cy="1051768"/>
          </a:xfrm>
          <a:prstGeom prst="roundRect">
            <a:avLst>
              <a:gd name="adj" fmla="val 120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33412" y="863501"/>
            <a:ext cx="0" cy="1051768"/>
          </a:xfrm>
          <a:prstGeom prst="line">
            <a:avLst/>
          </a:prstGeom>
          <a:noFill/>
          <a:ln w="47625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4926" y="1041202"/>
            <a:ext cx="3691682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2A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Конспекты лекций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4926" y="1311027"/>
            <a:ext cx="3523878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Автоматическая генерация конспектов. Два уровня: базовый и углублённый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21101" y="863501"/>
            <a:ext cx="3759101" cy="1051768"/>
          </a:xfrm>
          <a:prstGeom prst="roundRect">
            <a:avLst>
              <a:gd name="adj" fmla="val 120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44913" y="863501"/>
            <a:ext cx="0" cy="1051768"/>
          </a:xfrm>
          <a:prstGeom prst="line">
            <a:avLst/>
          </a:prstGeom>
          <a:noFill/>
          <a:ln w="47625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6427" y="1041202"/>
            <a:ext cx="3691682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2A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Тесты для самопроверки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46427" y="1311027"/>
            <a:ext cx="3523878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Вопросы с вариантами ответов. Три уровня сложности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600" y="2042220"/>
            <a:ext cx="3759101" cy="1051768"/>
          </a:xfrm>
          <a:prstGeom prst="roundRect">
            <a:avLst>
              <a:gd name="adj" fmla="val 120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33412" y="2042220"/>
            <a:ext cx="0" cy="1051768"/>
          </a:xfrm>
          <a:prstGeom prst="line">
            <a:avLst/>
          </a:prstGeom>
          <a:noFill/>
          <a:ln w="47625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926" y="2219920"/>
            <a:ext cx="3691682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2A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Объяснение терминов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4926" y="2489746"/>
            <a:ext cx="3523878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Подробное объяснение понятий простым языком с примерами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1101" y="2042220"/>
            <a:ext cx="3759101" cy="1051768"/>
          </a:xfrm>
          <a:prstGeom prst="roundRect">
            <a:avLst>
              <a:gd name="adj" fmla="val 120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544913" y="2042220"/>
            <a:ext cx="0" cy="1051768"/>
          </a:xfrm>
          <a:prstGeom prst="line">
            <a:avLst/>
          </a:prstGeom>
          <a:noFill/>
          <a:ln w="47625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46427" y="2219920"/>
            <a:ext cx="3691682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2A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Диалоговый помощник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46427" y="2489746"/>
            <a:ext cx="3523878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Уточняющие вопросы по лекции в формате диалога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9600" y="3220938"/>
            <a:ext cx="7924800" cy="838498"/>
          </a:xfrm>
          <a:prstGeom prst="roundRect">
            <a:avLst>
              <a:gd name="adj" fmla="val 15146"/>
            </a:avLst>
          </a:prstGeom>
          <a:solidFill>
            <a:srgbClr val="DFE8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33412" y="3220938"/>
            <a:ext cx="0" cy="838498"/>
          </a:xfrm>
          <a:prstGeom prst="line">
            <a:avLst/>
          </a:prstGeom>
          <a:noFill/>
          <a:ln w="47625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4926" y="3398639"/>
            <a:ext cx="8273951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2A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Адаптация для студентов с ОВЗ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4926" y="3668464"/>
            <a:ext cx="8273951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Упрощённая версия материалов: короткие предложения, простой язык, инклюзивный подход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3625"/>
            <a:ext cx="3849253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Безопасность данных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440954"/>
            <a:ext cx="507950" cy="3810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631454"/>
            <a:ext cx="4135011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B2A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Приоритет — защита данных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600" y="1999655"/>
            <a:ext cx="3947056" cy="1229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3D5A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Персональные данные студентов не покидают территорию техникума. В отличие от ChatGPT и аналогов, данные не отправляются на сторонние серверы.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76502" y="1583234"/>
            <a:ext cx="507950" cy="3810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76502" y="1773734"/>
            <a:ext cx="426749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B2A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Соответствие ФЗ-152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76502" y="2141934"/>
            <a:ext cx="3947056" cy="92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3D5A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Система спроектирована с учётом требований законодательства. Сервер полностью изолирован от интернета.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3867745"/>
            <a:ext cx="7924800" cy="869454"/>
          </a:xfrm>
          <a:prstGeom prst="roundRect">
            <a:avLst>
              <a:gd name="adj" fmla="val 11686"/>
            </a:avLst>
          </a:prstGeom>
          <a:solidFill>
            <a:srgbClr val="F0F4F8"/>
          </a:solidFill>
          <a:ln w="9525">
            <a:solidFill>
              <a:srgbClr val="DFE8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73026" y="4054971"/>
            <a:ext cx="7767846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Локальное развёртывание: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D5A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Модель и все данные находятся на собственном сервере техникума. Доступ в интернет для обработки не требуется.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3625"/>
            <a:ext cx="4167746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Текущий статус проекта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164580"/>
            <a:ext cx="2438400" cy="1785938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6652" y="1469380"/>
            <a:ext cx="2804297" cy="689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A9D8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33%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61948" y="2183755"/>
            <a:ext cx="2133704" cy="49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6B8A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Общий прогресс выполнения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51150" y="1164580"/>
            <a:ext cx="2438400" cy="1785938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068202" y="1469380"/>
            <a:ext cx="2804297" cy="689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A9D8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67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271412" y="2183755"/>
            <a:ext cx="2397877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6B8A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Лекций оцифровано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92701" y="1164580"/>
            <a:ext cx="2438400" cy="1785938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09752" y="1469380"/>
            <a:ext cx="2804297" cy="689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A9D8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771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5912962" y="2183755"/>
            <a:ext cx="2397877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6B8A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Записей в датасете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9600" y="3204418"/>
            <a:ext cx="2438400" cy="1282452"/>
          </a:xfrm>
          <a:prstGeom prst="roundRect">
            <a:avLst>
              <a:gd name="adj" fmla="val 9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26652" y="3458319"/>
            <a:ext cx="2804297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96%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68898" y="4032945"/>
            <a:ext cx="2519803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6B8A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Датасет готов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51150" y="3204418"/>
            <a:ext cx="2438400" cy="1282452"/>
          </a:xfrm>
          <a:prstGeom prst="roundRect">
            <a:avLst>
              <a:gd name="adj" fmla="val 9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068202" y="3458319"/>
            <a:ext cx="2804297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271412" y="4032945"/>
            <a:ext cx="2397877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6B8A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Предметных области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92701" y="3204418"/>
            <a:ext cx="2438400" cy="1282452"/>
          </a:xfrm>
          <a:prstGeom prst="roundRect">
            <a:avLst>
              <a:gd name="adj" fmla="val 9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791036" y="3458319"/>
            <a:ext cx="2641729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 сек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912962" y="4032945"/>
            <a:ext cx="2397877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6B8A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Генерация конспекта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3625"/>
            <a:ext cx="2918429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Дорожная карта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96270" y="1200596"/>
            <a:ext cx="9244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Q1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98402" y="1200596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828502" y="946696"/>
            <a:ext cx="6096000" cy="660202"/>
          </a:xfrm>
          <a:prstGeom prst="roundRect">
            <a:avLst>
              <a:gd name="adj" fmla="val 1154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847552" y="946696"/>
            <a:ext cx="0" cy="660202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69753" y="1073646"/>
            <a:ext cx="6894951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Прототип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69753" y="1308497"/>
            <a:ext cx="621675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3D5A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Базовая модель, генерация конспектов, класс IntelligentTutor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6270" y="1987748"/>
            <a:ext cx="9244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Q2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98402" y="1987748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828502" y="1733848"/>
            <a:ext cx="6096000" cy="660202"/>
          </a:xfrm>
          <a:prstGeom prst="roundRect">
            <a:avLst>
              <a:gd name="adj" fmla="val 1154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1847552" y="1733848"/>
            <a:ext cx="0" cy="660202"/>
          </a:xfrm>
          <a:prstGeom prst="line">
            <a:avLst/>
          </a:prstGeom>
          <a:noFill/>
          <a:ln w="38100">
            <a:solidFill>
              <a:srgbClr val="B0C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69753" y="1860798"/>
            <a:ext cx="6555855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Инфраструктура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69753" y="2095649"/>
            <a:ext cx="621675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3D5A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Закупка сервера A100, установка, настройка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6270" y="2774900"/>
            <a:ext cx="9244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Q3 2026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98402" y="2774900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B0C4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828502" y="2521000"/>
            <a:ext cx="6096000" cy="660202"/>
          </a:xfrm>
          <a:prstGeom prst="roundRect">
            <a:avLst>
              <a:gd name="adj" fmla="val 1154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847552" y="2521000"/>
            <a:ext cx="0" cy="660202"/>
          </a:xfrm>
          <a:prstGeom prst="line">
            <a:avLst/>
          </a:prstGeom>
          <a:noFill/>
          <a:ln w="38100">
            <a:solidFill>
              <a:srgbClr val="B0C4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69753" y="2647950"/>
            <a:ext cx="621675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Дообучение модели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069753" y="2882801"/>
            <a:ext cx="621675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3D5A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Fine-tuning на датасете СИТ, LoRA-адаптеры, валидация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6270" y="3562052"/>
            <a:ext cx="9244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Q4 2026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98402" y="3562052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B0C4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828502" y="3308152"/>
            <a:ext cx="6096000" cy="660202"/>
          </a:xfrm>
          <a:prstGeom prst="roundRect">
            <a:avLst>
              <a:gd name="adj" fmla="val 1154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1847552" y="3308152"/>
            <a:ext cx="0" cy="660202"/>
          </a:xfrm>
          <a:prstGeom prst="line">
            <a:avLst/>
          </a:prstGeom>
          <a:noFill/>
          <a:ln w="38100">
            <a:solidFill>
              <a:srgbClr val="B0C4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69753" y="3435102"/>
            <a:ext cx="621675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Пилотное внедрение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069753" y="3669953"/>
            <a:ext cx="621675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3D5A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Запуск в группе 15.02.14, сбор обратной связи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6270" y="4349204"/>
            <a:ext cx="9244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Q1 2027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498402" y="4349204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B0C4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828502" y="4095304"/>
            <a:ext cx="6096000" cy="660202"/>
          </a:xfrm>
          <a:prstGeom prst="roundRect">
            <a:avLst>
              <a:gd name="adj" fmla="val 1154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1847552" y="4095304"/>
            <a:ext cx="0" cy="660202"/>
          </a:xfrm>
          <a:prstGeom prst="line">
            <a:avLst/>
          </a:prstGeom>
          <a:noFill/>
          <a:ln w="38100">
            <a:solidFill>
              <a:srgbClr val="B0C4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69753" y="4222254"/>
            <a:ext cx="621675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Продакшен-релиз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069753" y="4457105"/>
            <a:ext cx="621675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3D5A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Расширение на все специальности, Apache 2.0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3625"/>
            <a:ext cx="3271428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Риски и митигация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295549"/>
            <a:ext cx="3759101" cy="2857202"/>
          </a:xfrm>
          <a:prstGeom prst="roundRect">
            <a:avLst>
              <a:gd name="adj" fmla="val 4445"/>
            </a:avLst>
          </a:prstGeom>
          <a:solidFill>
            <a:srgbClr val="FFFFFF"/>
          </a:solidFill>
          <a:ln w="19050">
            <a:solidFill>
              <a:srgbClr val="E8B4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82551" y="1568500"/>
            <a:ext cx="392010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Риски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82551" y="1959025"/>
            <a:ext cx="3213199" cy="203602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3D5A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Ошибки генерации модели (галлюцинации)</a:t>
            </a:r>
            <a:endParaRPr lang="en-US" sz="1400" dirty="0"/>
          </a:p>
          <a:p>
            <a:pPr algn="l" marL="114300" indent="-114300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3D5A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Задержка закупки сервера</a:t>
            </a:r>
            <a:endParaRPr lang="en-US" sz="1400" dirty="0"/>
          </a:p>
          <a:p>
            <a:pPr algn="l" marL="114300" indent="-114300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3D5A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Недостаточный объём датасета</a:t>
            </a:r>
            <a:endParaRPr lang="en-US" sz="1400" dirty="0"/>
          </a:p>
          <a:p>
            <a:pPr algn="l" marL="114300" indent="-114300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3D5A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Низкий уровень ИТ-грамотности</a:t>
            </a:r>
            <a:endParaRPr lang="en-US" sz="1400" dirty="0"/>
          </a:p>
          <a:p>
            <a:pPr algn="l" marL="114300" indent="-114300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3D5A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Сопротивление преподавателей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22602" y="975420"/>
            <a:ext cx="3759101" cy="3497461"/>
          </a:xfrm>
          <a:prstGeom prst="roundRect">
            <a:avLst>
              <a:gd name="adj" fmla="val 3631"/>
            </a:avLst>
          </a:prstGeom>
          <a:solidFill>
            <a:srgbClr val="FFFFFF"/>
          </a:solidFill>
          <a:ln w="19050">
            <a:solidFill>
              <a:srgbClr val="B8D8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95552" y="1248370"/>
            <a:ext cx="392010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27AE6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Митигация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95552" y="1638895"/>
            <a:ext cx="3213199" cy="271469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3D5A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Проверка ответов преподавателем</a:t>
            </a:r>
            <a:endParaRPr lang="en-US" sz="1400" dirty="0"/>
          </a:p>
          <a:p>
            <a:pPr algn="l" marL="114300" indent="-114300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3D5A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План B: облачный GPU на период закупки</a:t>
            </a:r>
            <a:endParaRPr lang="en-US" sz="1400" dirty="0"/>
          </a:p>
          <a:p>
            <a:pPr algn="l" marL="114300" indent="-114300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3D5A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Датасет уже 771 запись, готов к обучению</a:t>
            </a:r>
            <a:endParaRPr lang="en-US" sz="1400" dirty="0"/>
          </a:p>
          <a:p>
            <a:pPr algn="l" marL="114300" indent="-114300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3D5A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Интеграция в Moodle (привычный интерфейс)</a:t>
            </a:r>
            <a:endParaRPr lang="en-US" sz="1400" dirty="0"/>
          </a:p>
          <a:p>
            <a:pPr algn="l" marL="114300" indent="-114300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3D5A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Презентации и FAQ для коллектива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5392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95696"/>
            <a:ext cx="3377096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Проектная команда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769293"/>
            <a:ext cx="3759101" cy="2793355"/>
          </a:xfrm>
          <a:prstGeom prst="roundRect">
            <a:avLst>
              <a:gd name="adj" fmla="val 45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" y="1074093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4400" y="1861393"/>
            <a:ext cx="3779401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B2A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Бардаков Д.Н.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178844"/>
            <a:ext cx="3464451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A9D8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Руководитель проекта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515344"/>
            <a:ext cx="3306976" cy="80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D5A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Архитектура системы, разработка программного обеспечения, ML-инженерия, серверная инфраструктура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1851" y="769293"/>
            <a:ext cx="3759101" cy="2793355"/>
          </a:xfrm>
          <a:prstGeom prst="roundRect">
            <a:avLst>
              <a:gd name="adj" fmla="val 45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76651" y="1074093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76651" y="1861393"/>
            <a:ext cx="3779401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B2A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Мышанская Н.Г.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76651" y="2178844"/>
            <a:ext cx="3842391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A9D8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Методист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76651" y="2515344"/>
            <a:ext cx="3306976" cy="80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D5A8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Разработка учебного контента, формирование датасета, методические рекомендации, валидация качества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9600" y="3816548"/>
            <a:ext cx="7924800" cy="920651"/>
          </a:xfrm>
          <a:prstGeom prst="roundRect">
            <a:avLst>
              <a:gd name="adj" fmla="val 11036"/>
            </a:avLst>
          </a:prstGeom>
          <a:solidFill>
            <a:srgbClr val="F0F4F8"/>
          </a:solidFill>
          <a:ln w="9525">
            <a:solidFill>
              <a:srgbClr val="DFE8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73026" y="4029224"/>
            <a:ext cx="8137743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Организация:</a:t>
            </a:r>
            <a:pPr algn="l"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ГБПОУ РО «Сальский индустриальный техникум» (СИТ)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73026" y="4314974"/>
            <a:ext cx="8137743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400" b="1" dirty="0">
                <a:solidFill>
                  <a:srgbClr val="1B2A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Специальность:</a:t>
            </a:r>
            <a:pPr algn="l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1B2A4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15.02.14 «Оснащение средствами автоматизации ТПиП»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08450" y="1236166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4320" y="1667917"/>
            <a:ext cx="8595360" cy="592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Спасибо за внимание!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267200" y="2470398"/>
            <a:ext cx="609600" cy="3810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95580" y="2762399"/>
            <a:ext cx="3552691" cy="329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Готовы ответить на ваши вопросы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995322" y="3371850"/>
            <a:ext cx="3153207" cy="307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Bef>
                <a:spcPts val="2400"/>
              </a:spcBef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Бардаков Д.Н. · Мышанская Н.Г.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68232" y="3757910"/>
            <a:ext cx="480753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ГБПОУ РО «Сальский индустриальный техникум» ·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ГБПОУ РО «Сальский индустриальный техникум»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ИИ-тьютор для СПО</dc:title>
  <dc:subject>Защита проекта: Интеллектуальный тьютор на базе LLM</dc:subject>
  <dc:creator>Бардаков Д.Н., Мышанская Н.Г.</dc:creator>
  <cp:lastModifiedBy>Бардаков Д.Н., Мышанская Н.Г.</cp:lastModifiedBy>
  <cp:revision>1</cp:revision>
  <dcterms:created xsi:type="dcterms:W3CDTF">2026-05-05T08:54:54Z</dcterms:created>
  <dcterms:modified xsi:type="dcterms:W3CDTF">2026-05-05T08:54:54Z</dcterms:modified>
</cp:coreProperties>
</file>